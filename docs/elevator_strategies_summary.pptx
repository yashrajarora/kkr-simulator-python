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8" r:id="rId5"/>
    <p:sldId id="277" r:id="rId6"/>
    <p:sldId id="259" r:id="rId7"/>
    <p:sldId id="260" r:id="rId8"/>
    <p:sldId id="261" r:id="rId9"/>
    <p:sldId id="271" r:id="rId10"/>
    <p:sldId id="273" r:id="rId11"/>
    <p:sldId id="272" r:id="rId12"/>
    <p:sldId id="275" r:id="rId13"/>
    <p:sldId id="276" r:id="rId14"/>
    <p:sldId id="274" r:id="rId15"/>
    <p:sldId id="262" r:id="rId16"/>
    <p:sldId id="263" r:id="rId17"/>
    <p:sldId id="264" r:id="rId18"/>
    <p:sldId id="265" r:id="rId19"/>
    <p:sldId id="266" r:id="rId20"/>
    <p:sldId id="267" r:id="rId21"/>
    <p:sldId id="279" r:id="rId22"/>
    <p:sldId id="282" r:id="rId23"/>
    <p:sldId id="280" r:id="rId24"/>
    <p:sldId id="281" r:id="rId25"/>
    <p:sldId id="268" r:id="rId26"/>
    <p:sldId id="283" r:id="rId27"/>
    <p:sldId id="284" r:id="rId28"/>
    <p:sldId id="285" r:id="rId29"/>
    <p:sldId id="286" r:id="rId30"/>
    <p:sldId id="287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7" d="100"/>
          <a:sy n="117" d="100"/>
        </p:scale>
        <p:origin x="31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Round Robin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39.479999999999997</c:v>
                </c:pt>
                <c:pt idx="1">
                  <c:v>28.4</c:v>
                </c:pt>
                <c:pt idx="2">
                  <c:v>8.35</c:v>
                </c:pt>
                <c:pt idx="3">
                  <c:v>236.8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451-44A5-95B5-1FB77EEA7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Nearest Car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39.299999999999997</c:v>
                </c:pt>
                <c:pt idx="1">
                  <c:v>22.2</c:v>
                </c:pt>
                <c:pt idx="2">
                  <c:v>10.55</c:v>
                </c:pt>
                <c:pt idx="3">
                  <c:v>168.55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451-44A5-95B5-1FB77EEA7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Nearest Car Simple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42.6</c:v>
                </c:pt>
                <c:pt idx="1">
                  <c:v>21.3</c:v>
                </c:pt>
                <c:pt idx="2">
                  <c:v>8.4499999999999993</c:v>
                </c:pt>
                <c:pt idx="3">
                  <c:v>229.15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451-44A5-95B5-1FB77EEA7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Nearest Car Forward Run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35.51</c:v>
                </c:pt>
                <c:pt idx="1">
                  <c:v>18.8</c:v>
                </c:pt>
                <c:pt idx="2">
                  <c:v>8.9499999999999993</c:v>
                </c:pt>
                <c:pt idx="3">
                  <c:v>174.6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451-44A5-95B5-1FB77EEA7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Cost Based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19.41</c:v>
                </c:pt>
                <c:pt idx="1">
                  <c:v>10.3</c:v>
                </c:pt>
                <c:pt idx="2">
                  <c:v>7.35</c:v>
                </c:pt>
                <c:pt idx="3">
                  <c:v>66.2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451-44A5-95B5-1FB77EEA7D2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Balanced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35.479999999999997</c:v>
                </c:pt>
                <c:pt idx="1">
                  <c:v>21.3</c:v>
                </c:pt>
                <c:pt idx="2">
                  <c:v>8.6</c:v>
                </c:pt>
                <c:pt idx="3">
                  <c:v>169.15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3451-44A5-95B5-1FB77EEA7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Elevator dispatch strategies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CADCFC"/>
                </a:solidFill>
                <a:latin typeface="Calibri"/>
              </a:rPr>
              <a:t>How we approached the requirements, and what the strategies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kkr-simulator-py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Our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Four steps, each checked before the next one started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68680" y="210312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Requirements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74720"/>
            <a:ext cx="2194560" cy="17235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1F2937"/>
                </a:solidFill>
                <a:latin typeface="Calibri"/>
              </a:rPr>
              <a:t>Read the rules that decide </a:t>
            </a:r>
            <a:r>
              <a:rPr sz="1600" b="0" dirty="0" err="1">
                <a:solidFill>
                  <a:srgbClr val="1F2937"/>
                </a:solidFill>
                <a:latin typeface="Calibri"/>
              </a:rPr>
              <a:t>behaviour</a:t>
            </a:r>
            <a:r>
              <a:rPr sz="1600" b="0" dirty="0">
                <a:solidFill>
                  <a:srgbClr val="1F2937"/>
                </a:solidFill>
                <a:latin typeface="Calibri"/>
              </a:rPr>
              <a:t>: direction, capacity, no look-ahead.</a:t>
            </a:r>
            <a:endParaRPr lang="en-US" sz="1600" b="0" dirty="0">
              <a:solidFill>
                <a:srgbClr val="1F2937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endParaRPr lang="en-US" sz="1600" dirty="0">
              <a:solidFill>
                <a:srgbClr val="1F2937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lang="en-US" sz="1200" i="1" dirty="0">
                <a:solidFill>
                  <a:srgbClr val="1F2937"/>
                </a:solidFill>
                <a:latin typeface="Calibri"/>
              </a:rPr>
              <a:t>Refer: Requirements.md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82880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703320" y="210312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880360"/>
            <a:ext cx="219456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2000" b="1" dirty="0">
                <a:solidFill>
                  <a:srgbClr val="1E2761"/>
                </a:solidFill>
                <a:latin typeface="Calibri"/>
              </a:rPr>
              <a:t>Entities and </a:t>
            </a:r>
            <a:r>
              <a:rPr sz="2000" b="1" dirty="0">
                <a:solidFill>
                  <a:srgbClr val="1E2761"/>
                </a:solidFill>
                <a:latin typeface="Calibri"/>
              </a:rPr>
              <a:t>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474720"/>
            <a:ext cx="2194560" cy="16466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600" b="0" dirty="0">
                <a:solidFill>
                  <a:srgbClr val="1F2937"/>
                </a:solidFill>
                <a:latin typeface="Calibri"/>
              </a:rPr>
              <a:t>Decide on Entities for the system </a:t>
            </a: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1F2937"/>
                </a:solidFill>
                <a:latin typeface="Calibri"/>
              </a:rPr>
              <a:t>Layers with one class per strategy, so a new strategy needs no simulator change.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2880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37960" y="210312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88036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Build and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474720"/>
            <a:ext cx="2194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Car and tick first, then each strategy with its own tests.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82880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372600" y="210312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288036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Compare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3474720"/>
            <a:ext cx="2194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Same inputs for every strategy: waits, total times, and fairness across cars.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Four rules the design is built around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5303520" cy="1920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19" y="1874519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19" y="2468880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A passenger boards only when the car is going their way. Riders share one direction.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303520" cy="1920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37959" y="1874519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59" y="2468880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Riders never exceed a car's capacity. A full car can be given a trip, and the passenger waits for a seat.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5303520" cy="1920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19" y="416052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No look-ahead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4754880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A decision at a tick uses only requests made by that tick.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303520" cy="1920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59" y="416052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Express cars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4754880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An express car never stops outside its served set. Floor 1 is always served.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Two kinds of requirement: what it does and how well</a:t>
            </a:r>
          </a:p>
        </p:txBody>
      </p:sp>
      <p:sp>
        <p:nvSpPr>
          <p:cNvPr id="3" name="TextBox 4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Calibri"/>
              </a:rPr>
              <a:t>Both are listed in docs/requirements.md, and the tests check them</a:t>
            </a:r>
          </a:p>
        </p:txBody>
      </p:sp>
      <p:sp>
        <p:nvSpPr>
          <p:cNvPr id="4" name="Rounded Rectangle 2"/>
          <p:cNvSpPr/>
          <p:nvPr/>
        </p:nvSpPr>
        <p:spPr>
          <a:xfrm>
            <a:off x="640080" y="1645920"/>
            <a:ext cx="5303520" cy="4206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3"/>
          <p:cNvSpPr txBox="1"/>
          <p:nvPr/>
        </p:nvSpPr>
        <p:spPr>
          <a:xfrm>
            <a:off x="960119" y="1874519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Functional (36)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960119" y="23774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1F2937"/>
                </a:solidFill>
                <a:latin typeface="Calibri"/>
              </a:rPr>
              <a:t>What the simulator does</a:t>
            </a:r>
          </a:p>
        </p:txBody>
      </p:sp>
      <p:sp>
        <p:nvSpPr>
          <p:cNvPr id="7" name="TextBox 4"/>
          <p:cNvSpPr txBox="1"/>
          <p:nvPr/>
        </p:nvSpPr>
        <p:spPr>
          <a:xfrm>
            <a:off x="960119" y="2880360"/>
            <a:ext cx="4663440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Floors and cars, with their settings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Requests: source, destination, time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Assigning each request to a car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Movement, boarding and alighting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Traffic modes: NORMAL and rush modes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Input checks and output files</a:t>
            </a:r>
          </a:p>
        </p:txBody>
      </p:sp>
      <p:sp>
        <p:nvSpPr>
          <p:cNvPr id="8" name="Rounded Rectangle 2"/>
          <p:cNvSpPr/>
          <p:nvPr/>
        </p:nvSpPr>
        <p:spPr>
          <a:xfrm>
            <a:off x="6217920" y="1645920"/>
            <a:ext cx="5303520" cy="4206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3"/>
          <p:cNvSpPr txBox="1"/>
          <p:nvPr/>
        </p:nvSpPr>
        <p:spPr>
          <a:xfrm>
            <a:off x="6537959" y="1874519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Non-functional (34)</a:t>
            </a:r>
          </a:p>
        </p:txBody>
      </p:sp>
      <p:sp>
        <p:nvSpPr>
          <p:cNvPr id="10" name="TextBox 4"/>
          <p:cNvSpPr txBox="1"/>
          <p:nvPr/>
        </p:nvSpPr>
        <p:spPr>
          <a:xfrm>
            <a:off x="6537959" y="23774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1F2937"/>
                </a:solidFill>
                <a:latin typeface="Calibri"/>
              </a:rPr>
              <a:t>How well it must do it</a:t>
            </a:r>
          </a:p>
        </p:txBody>
      </p:sp>
      <p:sp>
        <p:nvSpPr>
          <p:cNvPr id="11" name="TextBox 4"/>
          <p:cNvSpPr txBox="1"/>
          <p:nvPr/>
        </p:nvSpPr>
        <p:spPr>
          <a:xfrm>
            <a:off x="6537959" y="2880360"/>
            <a:ext cx="4663440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Correctness and safety: capacity, direction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Determinism: same input, same output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Configurable settings, run with no arguments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Strategy design and bounded decision time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Clear error messages, no stack traces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Testability: each rule can be tested</a:t>
            </a:r>
          </a:p>
        </p:txBody>
      </p:sp>
      <p:sp>
        <p:nvSpPr>
          <p:cNvPr id="12" name="TextBox 4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Functional requirements say what the simulator must do. Non-functional requirements set the standards it must meet.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Calibri"/>
              </a:rPr>
              <a:t>Traffic modes: NORMAL and four rush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5B6478"/>
                </a:solidFill>
                <a:latin typeface="Calibri"/>
              </a:rPr>
              <a:t>One mode is set for each run in elevator.properties (mode=). It decides where an empty car waits.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728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39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Who is travelling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Where an empty car waits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NORMAL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No rush. Everyone is served as they call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The car stays where it last stopped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MORNING_RUSH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People arriving and going up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Floor 1 (the lobby)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LUNCH_BACK_RUSH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People returning and going 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Floor 1 (the lobby)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LUNCH_OUT_RUSH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People leaving and going down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 parking floor set for each car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4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EVENING_RUSH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People leaving and going down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 parking floor set for each car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F2937"/>
                </a:solidFill>
                <a:latin typeface="Calibri"/>
              </a:rPr>
              <a:t>The rush modes change only where empty cars wait. The strategies, the eligibility rules and the car movement are the same in every mode.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Technical design: six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Each layer depends only on the layers below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84708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config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847088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settings, checks, building the cars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14600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62432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624328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Car, Trip, PassengerRequest, Direction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91839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340156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dispatch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401568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the strategies and the eligibility tiers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69079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4178807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simulator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178807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tick loop, request queue, movement and boarding rules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846320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495604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956048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request reader and output writer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573328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metrics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5733288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waits, total times, summary statistics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Technical design: one tick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The same order in the real run and in every forward-run copy</a:t>
            </a:r>
          </a:p>
        </p:txBody>
      </p:sp>
      <p:sp>
        <p:nvSpPr>
          <p:cNvPr id="4" name="Pentagon 3"/>
          <p:cNvSpPr/>
          <p:nvPr/>
        </p:nvSpPr>
        <p:spPr>
          <a:xfrm>
            <a:off x="548640" y="2377440"/>
            <a:ext cx="2377440" cy="146304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Record car floors</a:t>
            </a:r>
          </a:p>
        </p:txBody>
      </p:sp>
      <p:sp>
        <p:nvSpPr>
          <p:cNvPr id="5" name="Chevron 4"/>
          <p:cNvSpPr/>
          <p:nvPr/>
        </p:nvSpPr>
        <p:spPr>
          <a:xfrm>
            <a:off x="2834640" y="2377440"/>
            <a:ext cx="2377440" cy="1463040"/>
          </a:xfrm>
          <a:prstGeom prst="chevron">
            <a:avLst/>
          </a:prstGeom>
          <a:solidFill>
            <a:srgbClr val="3A4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Release requests made now</a:t>
            </a:r>
          </a:p>
        </p:txBody>
      </p:sp>
      <p:sp>
        <p:nvSpPr>
          <p:cNvPr id="6" name="Chevron 5"/>
          <p:cNvSpPr/>
          <p:nvPr/>
        </p:nvSpPr>
        <p:spPr>
          <a:xfrm>
            <a:off x="5120640" y="2377440"/>
            <a:ext cx="2377440" cy="146304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Assign each to a car</a:t>
            </a:r>
          </a:p>
        </p:txBody>
      </p:sp>
      <p:sp>
        <p:nvSpPr>
          <p:cNvPr id="7" name="Chevron 6"/>
          <p:cNvSpPr/>
          <p:nvPr/>
        </p:nvSpPr>
        <p:spPr>
          <a:xfrm>
            <a:off x="7406640" y="2377440"/>
            <a:ext cx="2377440" cy="1463040"/>
          </a:xfrm>
          <a:prstGeom prst="chevron">
            <a:avLst/>
          </a:prstGeom>
          <a:solidFill>
            <a:srgbClr val="3A4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Alight, then board</a:t>
            </a:r>
          </a:p>
        </p:txBody>
      </p:sp>
      <p:sp>
        <p:nvSpPr>
          <p:cNvPr id="8" name="Chevron 7"/>
          <p:cNvSpPr/>
          <p:nvPr/>
        </p:nvSpPr>
        <p:spPr>
          <a:xfrm>
            <a:off x="9692640" y="2377440"/>
            <a:ext cx="2377440" cy="146304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Move one floor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Each car, in car-number order, does its alight and board, then moves one floor.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Passengers board only in the car's direction, and only when there is a free seat.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Predicting a pickup time: the forward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Time-based strategies simulate each car instead of guessing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120640" cy="393192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1. Copy the 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Riders and pending passengers are copied with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290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2. Add the new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Run the copy forward, one tick at a time, with the same steps.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21208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20574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3. Read the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606040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The tick at which the new passenger boards gives the pickup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4290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4. Throw the copy 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977639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The real car and its trips are never changed.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196785"/>
            <a:ext cx="10972800" cy="1313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67" b="1">
                <a:solidFill>
                  <a:srgbClr val="1E2761"/>
                </a:solidFill>
                <a:latin typeface="Calibri"/>
              </a:rPr>
              <a:t>Round Robin: take turns, and group same-direction riders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828801"/>
            <a:ext cx="5486400" cy="2631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Cars are tried in rotation. The pointer moves past the car that was picked.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Requests made at the same time, going the same way, share a car if it has room for all of them and can reach both floors.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A request that cannot be grouped goes alone, to the next car in rotation.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61760" y="1828800"/>
            <a:ext cx="5120640" cy="13411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6705600" y="2047922"/>
            <a:ext cx="4693920" cy="9028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33" b="1">
                <a:solidFill>
                  <a:srgbClr val="1E2761"/>
                </a:solidFill>
                <a:latin typeface="Calibri"/>
              </a:rPr>
              <a:t>Pass 1: ready now</a:t>
            </a:r>
          </a:p>
          <a:p>
            <a:pPr algn="l"/>
            <a:r>
              <a:rPr sz="1867">
                <a:solidFill>
                  <a:srgbClr val="1F2937"/>
                </a:solidFill>
                <a:latin typeface="Calibri"/>
              </a:rPr>
              <a:t>Has room, and is idle or going the passenger's way with the passenger ahead.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61760" y="3352800"/>
            <a:ext cx="5120640" cy="13411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6705600" y="3571922"/>
            <a:ext cx="4693920" cy="9028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33" b="1">
                <a:solidFill>
                  <a:srgbClr val="1E2761"/>
                </a:solidFill>
                <a:latin typeface="Calibri"/>
              </a:rPr>
              <a:t>Pass 2: has room</a:t>
            </a:r>
          </a:p>
          <a:p>
            <a:pPr algn="l"/>
            <a:r>
              <a:rPr sz="1867">
                <a:solidFill>
                  <a:srgbClr val="1F2937"/>
                </a:solidFill>
                <a:latin typeface="Calibri"/>
              </a:rPr>
              <a:t>Has room, whatever its direction, since it will turn around.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61760" y="4876800"/>
            <a:ext cx="5120640" cy="13411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6705600" y="5239584"/>
            <a:ext cx="46939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33" b="1">
                <a:solidFill>
                  <a:srgbClr val="1E2761"/>
                </a:solidFill>
                <a:latin typeface="Calibri"/>
              </a:rPr>
              <a:t>Pass 3: any car</a:t>
            </a:r>
          </a:p>
          <a:p>
            <a:pPr algn="l"/>
            <a:r>
              <a:rPr sz="1867">
                <a:solidFill>
                  <a:srgbClr val="1F2937"/>
                </a:solidFill>
                <a:latin typeface="Calibri"/>
              </a:rPr>
              <a:t>Any car that serves both floors.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196785"/>
            <a:ext cx="10972800" cy="1313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67" b="1">
                <a:solidFill>
                  <a:srgbClr val="1E2761"/>
                </a:solidFill>
                <a:latin typeface="Calibri"/>
              </a:rPr>
              <a:t>Nearest Car Simple: distance in floors (comparison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828800"/>
            <a:ext cx="6583680" cy="27977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 dirty="0">
                <a:solidFill>
                  <a:srgbClr val="1F2937"/>
                </a:solidFill>
                <a:latin typeface="Calibri"/>
              </a:rPr>
              <a:t>Distance is the number of floors between the car and the passenger.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 dirty="0">
                <a:solidFill>
                  <a:srgbClr val="1F2937"/>
                </a:solidFill>
                <a:latin typeface="Calibri"/>
              </a:rPr>
              <a:t>A car that can take the passenger now always beats a car that cannot.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 dirty="0">
                <a:solidFill>
                  <a:srgbClr val="1F2937"/>
                </a:solidFill>
                <a:latin typeface="Calibri"/>
              </a:rPr>
              <a:t>If no car can take them now, the nearest car that serves both floors still gets them.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 dirty="0">
                <a:solidFill>
                  <a:srgbClr val="1F2937"/>
                </a:solidFill>
                <a:latin typeface="Calibri"/>
              </a:rPr>
              <a:t>A tie goes to the lower car number.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02880" y="1828800"/>
            <a:ext cx="3779520" cy="243840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8046720" y="2473452"/>
            <a:ext cx="3291840" cy="11490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33">
                <a:solidFill>
                  <a:srgbClr val="5B6478"/>
                </a:solidFill>
                <a:latin typeface="Calibri"/>
              </a:rPr>
              <a:t>Distance</a:t>
            </a:r>
          </a:p>
          <a:p>
            <a:pPr algn="ctr"/>
            <a:r>
              <a:rPr sz="2667" b="1">
                <a:solidFill>
                  <a:srgbClr val="1E2761"/>
                </a:solidFill>
                <a:latin typeface="Calibri"/>
              </a:rPr>
              <a:t>|car floor − passenger floor|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525111"/>
            <a:ext cx="10972800" cy="6566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67" b="1" dirty="0">
                <a:solidFill>
                  <a:srgbClr val="1E2761"/>
                </a:solidFill>
                <a:latin typeface="Calibri"/>
              </a:rPr>
              <a:t>Nearest Car: the nearest car in floors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828801"/>
            <a:ext cx="6339840" cy="3125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Only cars with room for the passenger now are measured, unless no car has room.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Distance is the floors to the passenger. A car heading away also pays the floors to its turn point and back.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The car with the smallest distance gets the request. Ties go to the lower car number.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559040" y="1828800"/>
            <a:ext cx="4023360" cy="31699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7924800" y="2695551"/>
            <a:ext cx="3352800" cy="14364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33">
                <a:solidFill>
                  <a:srgbClr val="5B6478"/>
                </a:solidFill>
                <a:latin typeface="Calibri"/>
              </a:rPr>
              <a:t>Distance</a:t>
            </a:r>
          </a:p>
          <a:p>
            <a:pPr algn="ctr"/>
            <a:r>
              <a:rPr sz="2667" b="1">
                <a:solidFill>
                  <a:srgbClr val="1E2761"/>
                </a:solidFill>
                <a:latin typeface="Calibri"/>
              </a:rPr>
              <a:t>floors to the passenger, plus the detour</a:t>
            </a:r>
          </a:p>
          <a:p>
            <a:pPr algn="ctr"/>
            <a:r>
              <a:rPr sz="1867">
                <a:solidFill>
                  <a:srgbClr val="1F2937"/>
                </a:solidFill>
                <a:latin typeface="Calibri"/>
              </a:rPr>
              <a:t>an estimate: stops, seats and time at each floor are not counted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dirty="0">
                <a:solidFill>
                  <a:srgbClr val="1E2761"/>
                </a:solidFill>
                <a:latin typeface="Calibri"/>
              </a:rPr>
              <a:t>Nearest Car Forward Run</a:t>
            </a:r>
            <a:r>
              <a:rPr lang="en-US" sz="3200" b="1" dirty="0">
                <a:solidFill>
                  <a:srgbClr val="1E2761"/>
                </a:solidFill>
                <a:latin typeface="Calibri"/>
              </a:rPr>
              <a:t>: the fastest pickup</a:t>
            </a:r>
            <a:endParaRPr sz="3200" b="1" dirty="0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Each eligible car is tested with a forward run: a copy of the car, with the new request added, runs one tick at a time.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copy includes the car's riders and pending passengers, so stops, seats and turns are counted.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car with the smallest wait gets the request. Ties go to the lower car number.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1828800"/>
            <a:ext cx="4572000" cy="32918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0" y="20574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5B6478"/>
                </a:solidFill>
                <a:latin typeface="Calibri"/>
              </a:rPr>
              <a:t>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265176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pickup time − request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4206240"/>
            <a:ext cx="40233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0" dirty="0">
                <a:solidFill>
                  <a:srgbClr val="1F2937"/>
                </a:solidFill>
                <a:latin typeface="Calibri"/>
              </a:rPr>
              <a:t>measured in ticks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Balanced: pickup time against load (FR-ASN-4d)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Each eligible car gets a score from its wait and its load.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car with the lowest score gets the request. Ties go to the lower car number.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Both weights default to 1.0 and are set in the code. With the load weight at 0, it matches Nearest Car Forward Run.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1828800"/>
            <a:ext cx="4572000" cy="32918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0" y="20574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5B6478"/>
                </a:solidFill>
                <a:latin typeface="Calibri"/>
              </a:rPr>
              <a:t>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265176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wait_time_weight × wait + car_load_weight × passengers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42062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passengers = riders plus pending passengers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196785"/>
            <a:ext cx="10972800" cy="1313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67" b="1">
                <a:solidFill>
                  <a:srgbClr val="1E2761"/>
                </a:solidFill>
                <a:latin typeface="Calibri"/>
              </a:rPr>
              <a:t>Cost Based: keep every passenger's wait fair (FR-ASN-4c)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828800"/>
            <a:ext cx="6339840" cy="27977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Each eligible car is tested with a forward run that predicts its trips, including the new passenger.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A car's largest wait is the longest wait of anyone on it, the new passenger included.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The car with the smallest largest wait gets the request, so no one is left far behind.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A tie goes to the lower car number.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559040" y="1828800"/>
            <a:ext cx="4023360" cy="182880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7802880" y="2209753"/>
            <a:ext cx="3596640" cy="10668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33">
                <a:solidFill>
                  <a:srgbClr val="5B6478"/>
                </a:solidFill>
                <a:latin typeface="Calibri"/>
              </a:rPr>
              <a:t>Largest wait of a car</a:t>
            </a:r>
          </a:p>
          <a:p>
            <a:pPr algn="ctr"/>
            <a:r>
              <a:rPr sz="2400" b="1">
                <a:solidFill>
                  <a:srgbClr val="1E2761"/>
                </a:solidFill>
                <a:latin typeface="Calibri"/>
              </a:rPr>
              <a:t>max wait over its predicted trips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559040" y="3901440"/>
            <a:ext cx="4023360" cy="182880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7802880" y="4467058"/>
            <a:ext cx="3596640" cy="6975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33">
                <a:solidFill>
                  <a:srgbClr val="5B6478"/>
                </a:solidFill>
                <a:latin typeface="Calibri"/>
              </a:rPr>
              <a:t>Chosen car</a:t>
            </a:r>
          </a:p>
          <a:p>
            <a:pPr algn="ctr"/>
            <a:r>
              <a:rPr sz="2400" b="1">
                <a:solidFill>
                  <a:srgbClr val="1E2761"/>
                </a:solidFill>
                <a:latin typeface="Calibri"/>
              </a:rPr>
              <a:t>smallest largest wait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Six strategies, two ways of measuring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Distance-based strategies use floors. Time-based strategies use the forward run.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6741033"/>
              </p:ext>
            </p:extLst>
          </p:nvPr>
        </p:nvGraphicFramePr>
        <p:xfrm>
          <a:off x="640080" y="18288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Strategy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Measures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Forward run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Filters first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ROUND_ROBIN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Rotation, direction, room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Ready cars first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NEAREST_CAR</a:t>
                      </a:r>
                      <a:r>
                        <a:rPr lang="en-US" dirty="0"/>
                        <a:t>_SIMPLE</a:t>
                      </a:r>
                      <a:endParaRPr dirty="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Floors only</a:t>
                      </a:r>
                      <a:endParaRPr dirty="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No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Ready cars first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NEAREST_CAR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Floors, plus the turn detour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Cars with room first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NEAREST_CAR_FORWARD_RUN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Ticks to pickup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No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BALANCED_STRATEGY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Wait + load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COST_BASED</a:t>
                      </a:r>
                      <a:endParaRPr dirty="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Longest predicted wait</a:t>
                      </a:r>
                      <a:endParaRPr dirty="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No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How the time-based strategies score a car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2103120"/>
            <a:ext cx="548640" cy="54864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2761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Forward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Wait in ticks until the car picks the passenger 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663440" y="2103120"/>
            <a:ext cx="548640" cy="54864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2761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92608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Cost Based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566160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The longest wait of anyone on the car after the new passenger is added. The smallest wins.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412480" y="2103120"/>
            <a:ext cx="548640" cy="54864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2761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Balanced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566160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wait_time_weight x wait + car_load_weight x passengers. Both weights are 1.0.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The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One input of 100 passengers, the same for every strategy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2606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E2761"/>
                </a:solidFill>
                <a:latin typeface="Calibri"/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2606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passengers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0" y="2103120"/>
            <a:ext cx="2606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E2761"/>
                </a:solidFill>
                <a:latin typeface="Calibri"/>
              </a:rP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83280"/>
            <a:ext cx="2606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floors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606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E2761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383280"/>
            <a:ext cx="2606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cars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0" y="2103120"/>
            <a:ext cx="2606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E2761"/>
                </a:solidFill>
                <a:latin typeface="Calibr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383280"/>
            <a:ext cx="2606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capacity per 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634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All cars start on floor 1.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Requests arrive between tick 0 and tick 291, from data/requests_big.csv.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Results on the 100-passenger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Green marks the best strategy for each measure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648565"/>
              </p:ext>
            </p:extLst>
          </p:nvPr>
        </p:nvGraphicFramePr>
        <p:xfrm>
          <a:off x="457200" y="1737360"/>
          <a:ext cx="11340193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93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44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44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44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44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944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ROUND_ROBIN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NEAREST_CAR_FORWARD_RUN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NEAREST_CAR_SIMPLE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COST_BASED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BALANCED_STRATEGY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total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61.08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41.11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54.83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41.32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43.45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total time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293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297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275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330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94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293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Median total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42.0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32.5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25.0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29.0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25.5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271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291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245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284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248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95th percentile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44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96035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floors travelled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2396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1861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1802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2146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1880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1980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Passenger balance across cars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0.994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0.894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0.980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0.972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0.899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0.970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ticks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490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401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424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338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425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4240344"/>
                  </a:ext>
                </a:extLst>
              </a:tr>
            </a:tbl>
          </a:graphicData>
        </a:graphic>
      </p:graphicFrame>
      <p:sp>
        <p:nvSpPr>
          <p:cNvPr id="5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Sample: data/requests_big.csv, one run of 100 passengers. 50 floors, 6 cars, capacity 10, all cars start on floor 1 (config/elevator.properties).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Fairness against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100 passengers. Lower and further left is better on both measures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95360" y="1737360"/>
            <a:ext cx="3200400" cy="438912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0" y="1920240"/>
            <a:ext cx="27432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Nearest Car Forward Run has the lowest median total time (25.0 ticks), with Balanced close (25.5).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Cost Based has the lowest 95th percentile wait (44 ticks), against 92 for Forward Run.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No strategy is best on both, so the choice is a trade-off.</a:t>
            </a:r>
          </a:p>
        </p:txBody>
      </p:sp>
      <p:pic>
        <p:nvPicPr>
          <p:cNvPr id="7" name="Picture 3" descr="fairness_plot_b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7040000" cy="4400000"/>
          </a:xfrm>
          <a:prstGeom prst="rect">
            <a:avLst/>
          </a:prstGeom>
        </p:spPr>
      </p:pic>
      <p:sp>
        <p:nvSpPr>
          <p:cNvPr id="8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Sample: data/requests_big.csv, one run of 100 passengers. 50 floors, 6 cars, capacity 10 (config/elevator.properties).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What the 100-passenger sample shows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30175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Nearest Car Forward Run has the lowest median total time, 25.0 ticks.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663440" y="21031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Fairness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834640"/>
            <a:ext cx="30175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Cost Based has the lowest 95th percentile wait, 44 ticks.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9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0" y="21031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Even spread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834640"/>
            <a:ext cx="30175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Round Robin spreads passengers most evenly across cars (passenger balance 0.99).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Calibri"/>
              </a:rPr>
              <a:t>Scenarios: which strategy wins 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Calibri"/>
              </a:rPr>
              <a:t>Averages over generated traffic (rush hour: 100 files per direction; others: 20 files)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72800" cy="208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4024566597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Best average wait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Best longest wait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Fewest floors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Most balanced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Fewest total ticks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Rush hour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(6.9)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Round Robin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(51.5)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Uniform traffic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 (4.1)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Round Robin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(43.5)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Sparse traffic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Balanced (2.66), just ahead of Nearest Car Forward Run (2.71)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Round Robin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(37.6)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Large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 (25.3)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(66)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Round Robin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(177.8)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Samples: generated traffic, averaged over files. Morning and evening rush: 100 files, 30 passengers, 10 floors, 3 cars, capacity 4. Uniform: 20 files, 30 passengers, same building. Sparse: 20 files, 10 passengers. Large building: 20 files, 100 passengers, 50 floors, 6 cars, capacity 8.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Calibri"/>
              </a:rPr>
              <a:t>Efficiency and fairness across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Calibri"/>
              </a:rPr>
              <a:t>Efficiency is the median total time. Fairness is the 95th percentile wait. Averages over generated traffic.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728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Efficiency: lowest median total time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Fairness: lowest 95th percentile wait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Trade-off?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Rush hour (100 files per direction, 30 passengers)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 (8.8)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(17.4)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Average of morning and evening rush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Uniform traffic (20 files, 30 passengers)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 (6.6)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(9.6)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Balanced is close on the median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Sparse traffic (20 files, 10 passengers)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 (5.8)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(7.3)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10 passengers, so the 95th percentile is the maximum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Large building (20 files, 100 passengers)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 (30.6)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(53.8)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54 against 102 for Forward Run (95th percentile)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Same generated scenarios as slide 21, averaged over files. Rush hour is the average of morning and evening rush.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Calibri"/>
              </a:rPr>
              <a:t>Longest wait: Cost Based is lowest in every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Calibri"/>
              </a:rPr>
              <a:t>Mean of the longest wait in each run, in ticks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737360"/>
          <a:ext cx="109728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Calibri"/>
              </a:rPr>
              <a:t>Conclusion: best and worst, by term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645920"/>
          <a:ext cx="10972800" cy="42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Worst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Average wait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Cost Based in rush hour; Nearest Car Forward Run in uniform traffic and the large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Round Robin in most scenarios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Longest wait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Cost Based in every 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Nearest Car Simple in rush hour; Round Robin in the large building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Energy (floors)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Cost Based in rush hour and the large building; Forward Run in uniform and sparse traffic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Round Robin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Passenger 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Round Robin in every 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Nearest Car in sparse traffic; Cost Based in the large building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Efficiency (median total time)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Nearest Car Forward Run in every 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Round Robin in every scenario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Fairness (95th percentile wait)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Cost Based in every 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Nearest Car Simple in rush hour and the large building; Round Robin in uniform traffic; Nearest Car in sparse traffic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133771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Total ticks (run length)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Cost Based in every 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Nearest Car Simple in rush hour and the large building; Round Robin in uniform and sparse traffic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493888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Simplicity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Nearest Car Simple (the 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Its waits and energy are the poorest of the non-trivial options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797395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What we would improve next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182880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74519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Calibri"/>
              </a:rPr>
              <a:t>Test the trade-off on more request files, and on cars of different capacities.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83464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8803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Calibri"/>
              </a:rPr>
              <a:t>Use peak-mode parking across a group of floors, not one floor.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84048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8862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Calibri"/>
              </a:rPr>
              <a:t>Make the Balanced weights settings, and add an energy-saving strategy.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Appendix: Morning rush: 100 files of 30 passengers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Means over the files. Green marks the best strategy for each measure.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122298"/>
              </p:ext>
            </p:extLst>
          </p:nvPr>
        </p:nvGraphicFramePr>
        <p:xfrm>
          <a:off x="457200" y="1737360"/>
          <a:ext cx="11421835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06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52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52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52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52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5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052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ROUND_ROBIN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NEAREST_CAR_FORWARD_RUN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NEAREST_CAR_SIMPLE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COST_BASED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BALANCED_STRATEGY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wait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5.94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24.3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21.1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29.0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14.7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20.0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Median total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11.86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9.95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9.54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95th percentile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21.3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16.4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24.6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13.6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17.6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total time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12.84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11.04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10.45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12.88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96035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floors travelled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147.8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141.1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132.6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149.7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135.3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138.5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Passenger balance across cars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0.987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ticks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53.2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51.9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47.8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58.5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49.0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370170"/>
                  </a:ext>
                </a:extLst>
              </a:tr>
            </a:tbl>
          </a:graphicData>
        </a:graphic>
      </p:graphicFrame>
      <p:sp>
        <p:nvSpPr>
          <p:cNvPr id="5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Sample: generated morning rush, 100 files, 30 passengers each. 10 floors, 3 cars, capacity 4. Empty cars wait on floor 1.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Appendix: Evening rush: 100 files of 30 passengers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Means over the files. Green marks the best strategy for each measure.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2643273"/>
              </p:ext>
            </p:extLst>
          </p:nvPr>
        </p:nvGraphicFramePr>
        <p:xfrm>
          <a:off x="302079" y="1737360"/>
          <a:ext cx="11266714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41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77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1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12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328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ROUND_ROBIN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NEAREST_CAR_FORWARD_RUN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NEAREST_CAR_SIMPLE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COST_BASED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BALANCED_STRATEGY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wait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13.94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14.53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12.53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7.69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11.28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54.6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57.5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52.7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56.2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24.1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50.9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Median total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11.19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8.14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9.27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9.93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95th percentile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46.5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43.9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47.2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21.2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43.2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total time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18.48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19.07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15.49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17.07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12.22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15.81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96035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floors travelled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204.8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203.8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182.1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189.4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154.8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186.3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Passenger balance across cars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0.985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ticks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74.2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75.5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67.7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75.8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54.8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67.2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964379"/>
                  </a:ext>
                </a:extLst>
              </a:tr>
            </a:tbl>
          </a:graphicData>
        </a:graphic>
      </p:graphicFrame>
      <p:sp>
        <p:nvSpPr>
          <p:cNvPr id="5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Sample: generated evening rush, 100 files, 30 passengers each. 10 floors, 3 cars, capacity 4. Empty cars wait on parking floors 10, 6 and 3.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Appendix: Uniform traffic: 20 files of 30 passengers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Means over the files. Green marks the best strategy for each measure.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821163"/>
              </p:ext>
            </p:extLst>
          </p:nvPr>
        </p:nvGraphicFramePr>
        <p:xfrm>
          <a:off x="457201" y="1737360"/>
          <a:ext cx="11323863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01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22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22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22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22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22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922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ROUND_ROBIN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NEAREST_CAR_FORWARD_RUN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NEAREST_CAR_SIMPLE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COST_BASED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BALANCED_STRATEGY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wait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5.70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4.08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4.64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4.54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28.4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22.2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18.8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21.3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10.3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21.3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Median total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9.18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6.62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95th percentile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22.6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19.6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9.6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16.6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total time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11.21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9.43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7.82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9.31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96035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floors travelled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134.5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117.5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104.5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115.5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113.2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113.7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Passenger balance across cars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0.987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ticks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52.0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50.1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44.6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43.5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47.1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3393963"/>
                  </a:ext>
                </a:extLst>
              </a:tr>
            </a:tbl>
          </a:graphicData>
        </a:graphic>
      </p:graphicFrame>
      <p:sp>
        <p:nvSpPr>
          <p:cNvPr id="5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Sample: generated uniform traffic, 20 files, 30 passengers each. 10 floors, 3 cars, capacity 4.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Appendix: Sparse traffic: 20 files of 10 passengers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Means over the files. Green marks the best strategy for each measure.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443411"/>
              </p:ext>
            </p:extLst>
          </p:nvPr>
        </p:nvGraphicFramePr>
        <p:xfrm>
          <a:off x="457200" y="1737360"/>
          <a:ext cx="11438164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4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7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7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7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73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73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073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ROUND_ROBIN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NEAREST_CAR_FORWARD_RUN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NEAREST_CAR_SIMPLE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COST_BASED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BALANCED_STRATEGY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wait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3.95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2.71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2.88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2.66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7.3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Median total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5.78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5.83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95th percentile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7.3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total time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6.76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6.32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96035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floors travelled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68.8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49.5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58.5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57.3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51.9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Passenger balance across cars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0.973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ticks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40.7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38.5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38.0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38.4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37.6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38.0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6949732"/>
                  </a:ext>
                </a:extLst>
              </a:tr>
            </a:tbl>
          </a:graphicData>
        </a:graphic>
      </p:graphicFrame>
      <p:sp>
        <p:nvSpPr>
          <p:cNvPr id="5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Sample: generated sparse traffic, 20 files, 10 passengers each. 10 floors, 3 cars, capacity 4. With 10 passengers the 95th percentile equals the maximum.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Appendix: Large building: 20 files of 100 passengers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Means over the files. Green marks the best strategy for each measure.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0306409"/>
              </p:ext>
            </p:extLst>
          </p:nvPr>
        </p:nvGraphicFramePr>
        <p:xfrm>
          <a:off x="457200" y="1737360"/>
          <a:ext cx="11462659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91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05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05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05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05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1058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1058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ROUND_ROBIN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NEAREST_CAR_FORWARD_RUN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NEAREST_CAR_SIMPLE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COST_BASED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BALANCED_STRATEGY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wait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47.78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36.79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25.33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38.59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29.75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25.76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236.8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168.6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174.6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229.2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66.2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169.2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Median total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51.65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44.88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30.62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39.50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45.12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31.43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95th percentile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133.2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104.0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102.0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135.8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53.8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100.6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total time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64.09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53.10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41.65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54.91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46.06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42.08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96035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floors travelled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1305.3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1026.0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952.6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1182.9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909.1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988.2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Passenger balance across cars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0.984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ticks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299.7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246.2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231.2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315.5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177.8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233.4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766883"/>
                  </a:ext>
                </a:extLst>
              </a:tr>
            </a:tbl>
          </a:graphicData>
        </a:graphic>
      </p:graphicFrame>
      <p:sp>
        <p:nvSpPr>
          <p:cNvPr id="5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Sample: generated large building, 20 files, 100 passengers each. 50 floors, 6 cars, capacity 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3144</Words>
  <Application>Microsoft Office PowerPoint</Application>
  <PresentationFormat>Widescreen</PresentationFormat>
  <Paragraphs>708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Yashraj Arora</cp:lastModifiedBy>
  <cp:revision>10</cp:revision>
  <dcterms:created xsi:type="dcterms:W3CDTF">2013-01-27T09:14:16Z</dcterms:created>
  <dcterms:modified xsi:type="dcterms:W3CDTF">2026-10-15T01:14:31Z</dcterms:modified>
  <cp:category/>
</cp:coreProperties>
</file>