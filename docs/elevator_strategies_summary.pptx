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78" r:id="rId5"/>
    <p:sldId id="277" r:id="rId6"/>
    <p:sldId id="259" r:id="rId7"/>
    <p:sldId id="260" r:id="rId8"/>
    <p:sldId id="261" r:id="rId9"/>
    <p:sldId id="271" r:id="rId10"/>
    <p:sldId id="273" r:id="rId11"/>
    <p:sldId id="272" r:id="rId12"/>
    <p:sldId id="275" r:id="rId13"/>
    <p:sldId id="276" r:id="rId14"/>
    <p:sldId id="274" r:id="rId15"/>
    <p:sldId id="262" r:id="rId16"/>
    <p:sldId id="263" r:id="rId17"/>
    <p:sldId id="264" r:id="rId18"/>
    <p:sldId id="265" r:id="rId19"/>
    <p:sldId id="266" r:id="rId20"/>
    <p:sldId id="267" r:id="rId21"/>
    <p:sldId id="279" r:id="rId22"/>
    <p:sldId id="282" r:id="rId23"/>
    <p:sldId id="280" r:id="rId24"/>
    <p:sldId id="281" r:id="rId25"/>
    <p:sldId id="268" r:id="rId26"/>
    <p:sldId id="283" r:id="rId27"/>
    <p:sldId id="284" r:id="rId28"/>
    <p:sldId id="285" r:id="rId29"/>
    <p:sldId id="286" r:id="rId30"/>
    <p:sldId id="287" r:id="rId3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17" d="100"/>
          <a:sy n="117" d="100"/>
        </p:scale>
        <p:origin x="318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Round Robin</c:v>
                </c:pt>
              </c:strCache>
            </c:strRef>
          </c:tx>
          <c:invertIfNegative val="1"/>
          <c:cat>
            <c:strRef>
              <c:f>Sheet1!$A$2:$A$5</c:f>
              <c:strCache>
                <c:ptCount val="4"/>
                <c:pt idx="0">
                  <c:v>Rush hour</c:v>
                </c:pt>
                <c:pt idx="1">
                  <c:v>Uniform traffic</c:v>
                </c:pt>
                <c:pt idx="2">
                  <c:v>Sparse traffic</c:v>
                </c:pt>
                <c:pt idx="3">
                  <c:v>Large building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39.479999999999997</c:v>
                </c:pt>
                <c:pt idx="1">
                  <c:v>28.4</c:v>
                </c:pt>
                <c:pt idx="2">
                  <c:v>8.35</c:v>
                </c:pt>
                <c:pt idx="3">
                  <c:v>236.8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451-44A5-95B5-1FB77EEA7D2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Nearest Car</c:v>
                </c:pt>
              </c:strCache>
            </c:strRef>
          </c:tx>
          <c:invertIfNegative val="1"/>
          <c:cat>
            <c:strRef>
              <c:f>Sheet1!$A$2:$A$5</c:f>
              <c:strCache>
                <c:ptCount val="4"/>
                <c:pt idx="0">
                  <c:v>Rush hour</c:v>
                </c:pt>
                <c:pt idx="1">
                  <c:v>Uniform traffic</c:v>
                </c:pt>
                <c:pt idx="2">
                  <c:v>Sparse traffic</c:v>
                </c:pt>
                <c:pt idx="3">
                  <c:v>Large building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39.299999999999997</c:v>
                </c:pt>
                <c:pt idx="1">
                  <c:v>22.2</c:v>
                </c:pt>
                <c:pt idx="2">
                  <c:v>10.55</c:v>
                </c:pt>
                <c:pt idx="3">
                  <c:v>168.55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451-44A5-95B5-1FB77EEA7D29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Nearest Car Simple</c:v>
                </c:pt>
              </c:strCache>
            </c:strRef>
          </c:tx>
          <c:invertIfNegative val="1"/>
          <c:cat>
            <c:strRef>
              <c:f>Sheet1!$A$2:$A$5</c:f>
              <c:strCache>
                <c:ptCount val="4"/>
                <c:pt idx="0">
                  <c:v>Rush hour</c:v>
                </c:pt>
                <c:pt idx="1">
                  <c:v>Uniform traffic</c:v>
                </c:pt>
                <c:pt idx="2">
                  <c:v>Sparse traffic</c:v>
                </c:pt>
                <c:pt idx="3">
                  <c:v>Large building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42.6</c:v>
                </c:pt>
                <c:pt idx="1">
                  <c:v>21.3</c:v>
                </c:pt>
                <c:pt idx="2">
                  <c:v>8.4499999999999993</c:v>
                </c:pt>
                <c:pt idx="3">
                  <c:v>229.15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451-44A5-95B5-1FB77EEA7D29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Nearest Car Forward Run</c:v>
                </c:pt>
              </c:strCache>
            </c:strRef>
          </c:tx>
          <c:invertIfNegative val="1"/>
          <c:cat>
            <c:strRef>
              <c:f>Sheet1!$A$2:$A$5</c:f>
              <c:strCache>
                <c:ptCount val="4"/>
                <c:pt idx="0">
                  <c:v>Rush hour</c:v>
                </c:pt>
                <c:pt idx="1">
                  <c:v>Uniform traffic</c:v>
                </c:pt>
                <c:pt idx="2">
                  <c:v>Sparse traffic</c:v>
                </c:pt>
                <c:pt idx="3">
                  <c:v>Large building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35.51</c:v>
                </c:pt>
                <c:pt idx="1">
                  <c:v>18.8</c:v>
                </c:pt>
                <c:pt idx="2">
                  <c:v>8.9499999999999993</c:v>
                </c:pt>
                <c:pt idx="3">
                  <c:v>174.6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3451-44A5-95B5-1FB77EEA7D29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Cost Based</c:v>
                </c:pt>
              </c:strCache>
            </c:strRef>
          </c:tx>
          <c:invertIfNegative val="1"/>
          <c:cat>
            <c:strRef>
              <c:f>Sheet1!$A$2:$A$5</c:f>
              <c:strCache>
                <c:ptCount val="4"/>
                <c:pt idx="0">
                  <c:v>Rush hour</c:v>
                </c:pt>
                <c:pt idx="1">
                  <c:v>Uniform traffic</c:v>
                </c:pt>
                <c:pt idx="2">
                  <c:v>Sparse traffic</c:v>
                </c:pt>
                <c:pt idx="3">
                  <c:v>Large building</c:v>
                </c:pt>
              </c:strCache>
            </c:strRef>
          </c:cat>
          <c:val>
            <c:numRef>
              <c:f>Sheet1!$F$2:$F$5</c:f>
              <c:numCache>
                <c:formatCode>General</c:formatCode>
                <c:ptCount val="4"/>
                <c:pt idx="0">
                  <c:v>19.41</c:v>
                </c:pt>
                <c:pt idx="1">
                  <c:v>10.3</c:v>
                </c:pt>
                <c:pt idx="2">
                  <c:v>7.35</c:v>
                </c:pt>
                <c:pt idx="3">
                  <c:v>66.2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451-44A5-95B5-1FB77EEA7D29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Balanced</c:v>
                </c:pt>
              </c:strCache>
            </c:strRef>
          </c:tx>
          <c:invertIfNegative val="1"/>
          <c:cat>
            <c:strRef>
              <c:f>Sheet1!$A$2:$A$5</c:f>
              <c:strCache>
                <c:ptCount val="4"/>
                <c:pt idx="0">
                  <c:v>Rush hour</c:v>
                </c:pt>
                <c:pt idx="1">
                  <c:v>Uniform traffic</c:v>
                </c:pt>
                <c:pt idx="2">
                  <c:v>Sparse traffic</c:v>
                </c:pt>
                <c:pt idx="3">
                  <c:v>Large building</c:v>
                </c:pt>
              </c:strCache>
            </c:strRef>
          </c:cat>
          <c:val>
            <c:numRef>
              <c:f>Sheet1!$G$2:$G$5</c:f>
              <c:numCache>
                <c:formatCode>General</c:formatCode>
                <c:ptCount val="4"/>
                <c:pt idx="0">
                  <c:v>35.479999999999997</c:v>
                </c:pt>
                <c:pt idx="1">
                  <c:v>21.3</c:v>
                </c:pt>
                <c:pt idx="2">
                  <c:v>8.6</c:v>
                </c:pt>
                <c:pt idx="3">
                  <c:v>169.15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3451-44A5-95B5-1FB77EEA7D2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3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  <a:endParaRPr lang="en-US"/>
          </a:p>
        </c:txPr>
        <c:crossAx val="-2068027336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200"/>
          </a:pPr>
          <a:endParaRPr lang="en-US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201168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>
                <a:solidFill>
                  <a:srgbClr val="FFFFFF"/>
                </a:solidFill>
                <a:latin typeface="Calibri"/>
              </a:rPr>
              <a:t>Elevator dispatch strategies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10896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>
                <a:solidFill>
                  <a:srgbClr val="CADCFC"/>
                </a:solidFill>
                <a:latin typeface="Calibri"/>
              </a:rPr>
              <a:t>How we approached the requirements, and what the strategies show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76072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CADCFC"/>
                </a:solidFill>
                <a:latin typeface="Calibri"/>
              </a:rPr>
              <a:t>kkr-simulator-py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E2761"/>
                </a:solidFill>
                <a:latin typeface="Calibri"/>
              </a:rPr>
              <a:t>Our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5B6478"/>
                </a:solidFill>
                <a:latin typeface="Calibri"/>
              </a:rPr>
              <a:t>Four steps, each checked before the next one started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2606040" cy="3840480"/>
          </a:xfrm>
          <a:prstGeom prst="roundRect">
            <a:avLst>
              <a:gd name="adj" fmla="val 8000"/>
            </a:avLst>
          </a:prstGeom>
          <a:solidFill>
            <a:srgbClr val="EE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68680" y="2103120"/>
            <a:ext cx="548640" cy="5486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880360"/>
            <a:ext cx="21945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E2761"/>
                </a:solidFill>
                <a:latin typeface="Calibri"/>
              </a:rPr>
              <a:t>Requirements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474720"/>
            <a:ext cx="2194560" cy="172354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dirty="0">
                <a:solidFill>
                  <a:srgbClr val="1F2937"/>
                </a:solidFill>
                <a:latin typeface="Calibri"/>
              </a:rPr>
              <a:t>Read the rules that decide </a:t>
            </a:r>
            <a:r>
              <a:rPr sz="1600" b="0" dirty="0" err="1">
                <a:solidFill>
                  <a:srgbClr val="1F2937"/>
                </a:solidFill>
                <a:latin typeface="Calibri"/>
              </a:rPr>
              <a:t>behaviour</a:t>
            </a:r>
            <a:r>
              <a:rPr sz="1600" b="0" dirty="0">
                <a:solidFill>
                  <a:srgbClr val="1F2937"/>
                </a:solidFill>
                <a:latin typeface="Calibri"/>
              </a:rPr>
              <a:t>: direction, capacity, no look-ahead.</a:t>
            </a:r>
            <a:endParaRPr lang="en-US" sz="1600" b="0" dirty="0">
              <a:solidFill>
                <a:srgbClr val="1F2937"/>
              </a:solidFill>
              <a:latin typeface="Calibri"/>
            </a:endParaRPr>
          </a:p>
          <a:p>
            <a:pPr algn="l">
              <a:spcAft>
                <a:spcPts val="600"/>
              </a:spcAft>
            </a:pPr>
            <a:endParaRPr lang="en-US" sz="1600" dirty="0">
              <a:solidFill>
                <a:srgbClr val="1F2937"/>
              </a:solidFill>
              <a:latin typeface="Calibri"/>
            </a:endParaRPr>
          </a:p>
          <a:p>
            <a:pPr algn="l">
              <a:spcAft>
                <a:spcPts val="600"/>
              </a:spcAft>
            </a:pPr>
            <a:r>
              <a:rPr lang="en-US" sz="1200" i="1" dirty="0">
                <a:solidFill>
                  <a:srgbClr val="1F2937"/>
                </a:solidFill>
                <a:latin typeface="Calibri"/>
              </a:rPr>
              <a:t>Refer: Requirements.md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828800"/>
            <a:ext cx="2606040" cy="3840480"/>
          </a:xfrm>
          <a:prstGeom prst="roundRect">
            <a:avLst>
              <a:gd name="adj" fmla="val 8000"/>
            </a:avLst>
          </a:prstGeom>
          <a:solidFill>
            <a:srgbClr val="EE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3703320" y="2103120"/>
            <a:ext cx="548640" cy="5486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2880360"/>
            <a:ext cx="219456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sz="2000" b="1" dirty="0">
                <a:solidFill>
                  <a:srgbClr val="1E2761"/>
                </a:solidFill>
                <a:latin typeface="Calibri"/>
              </a:rPr>
              <a:t>Entities and </a:t>
            </a:r>
            <a:r>
              <a:rPr sz="2000" b="1" dirty="0">
                <a:solidFill>
                  <a:srgbClr val="1E2761"/>
                </a:solidFill>
                <a:latin typeface="Calibri"/>
              </a:rPr>
              <a:t>Design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3320" y="3474720"/>
            <a:ext cx="2194560" cy="164660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sz="1600" b="0" dirty="0">
                <a:solidFill>
                  <a:srgbClr val="1F2937"/>
                </a:solidFill>
                <a:latin typeface="Calibri"/>
              </a:rPr>
              <a:t>Decide on Entities for the system </a:t>
            </a:r>
          </a:p>
          <a:p>
            <a:pPr algn="l">
              <a:spcAft>
                <a:spcPts val="600"/>
              </a:spcAft>
            </a:pPr>
            <a:r>
              <a:rPr sz="1600" b="0" dirty="0">
                <a:solidFill>
                  <a:srgbClr val="1F2937"/>
                </a:solidFill>
                <a:latin typeface="Calibri"/>
              </a:rPr>
              <a:t>Layers with one class per strategy, so a new strategy needs no simulator change.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828800"/>
            <a:ext cx="2606040" cy="3840480"/>
          </a:xfrm>
          <a:prstGeom prst="roundRect">
            <a:avLst>
              <a:gd name="adj" fmla="val 8000"/>
            </a:avLst>
          </a:prstGeom>
          <a:solidFill>
            <a:srgbClr val="EE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537960" y="2103120"/>
            <a:ext cx="548640" cy="5486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880360"/>
            <a:ext cx="21945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E2761"/>
                </a:solidFill>
                <a:latin typeface="Calibri"/>
              </a:rPr>
              <a:t>Build and 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3474720"/>
            <a:ext cx="21945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1F2937"/>
                </a:solidFill>
                <a:latin typeface="Calibri"/>
              </a:rPr>
              <a:t>Car and tick first, then each strategy with its own tests.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0" y="1828800"/>
            <a:ext cx="2606040" cy="3840480"/>
          </a:xfrm>
          <a:prstGeom prst="roundRect">
            <a:avLst>
              <a:gd name="adj" fmla="val 8000"/>
            </a:avLst>
          </a:prstGeom>
          <a:solidFill>
            <a:srgbClr val="EE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9372600" y="2103120"/>
            <a:ext cx="548640" cy="5486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72600" y="2880360"/>
            <a:ext cx="21945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E2761"/>
                </a:solidFill>
                <a:latin typeface="Calibri"/>
              </a:rPr>
              <a:t>Compare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72600" y="3474720"/>
            <a:ext cx="21945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1F2937"/>
                </a:solidFill>
                <a:latin typeface="Calibri"/>
              </a:rPr>
              <a:t>Same inputs for every strategy: waits, total times, and fairness across cars.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E2761"/>
                </a:solidFill>
                <a:latin typeface="Calibri"/>
              </a:rPr>
              <a:t>Four rules the design is built around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645920"/>
            <a:ext cx="5303520" cy="1920240"/>
          </a:xfrm>
          <a:prstGeom prst="roundRect">
            <a:avLst>
              <a:gd name="adj" fmla="val 8000"/>
            </a:avLst>
          </a:prstGeom>
          <a:solidFill>
            <a:srgbClr val="EE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19" y="1874519"/>
            <a:ext cx="4663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1E2761"/>
                </a:solidFill>
                <a:latin typeface="Calibri"/>
              </a:rPr>
              <a:t>Direction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19" y="2468880"/>
            <a:ext cx="46634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1F2937"/>
                </a:solidFill>
                <a:latin typeface="Calibri"/>
              </a:rPr>
              <a:t>A passenger boards only when the car is going their way. Riders share one direction.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303520" cy="1920240"/>
          </a:xfrm>
          <a:prstGeom prst="roundRect">
            <a:avLst>
              <a:gd name="adj" fmla="val 8000"/>
            </a:avLst>
          </a:prstGeom>
          <a:solidFill>
            <a:srgbClr val="EE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37959" y="1874519"/>
            <a:ext cx="4663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1E2761"/>
                </a:solidFill>
                <a:latin typeface="Calibri"/>
              </a:rPr>
              <a:t>Capacity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37959" y="2468880"/>
            <a:ext cx="46634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1F2937"/>
                </a:solidFill>
                <a:latin typeface="Calibri"/>
              </a:rPr>
              <a:t>Riders never exceed a car's capacity. A full car can be given a trip, and the passenger waits for a seat.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931920"/>
            <a:ext cx="5303520" cy="1920240"/>
          </a:xfrm>
          <a:prstGeom prst="roundRect">
            <a:avLst>
              <a:gd name="adj" fmla="val 8000"/>
            </a:avLst>
          </a:prstGeom>
          <a:solidFill>
            <a:srgbClr val="EE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19" y="4160520"/>
            <a:ext cx="4663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1E2761"/>
                </a:solidFill>
                <a:latin typeface="Calibri"/>
              </a:rPr>
              <a:t>No look-ahead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19" y="4754880"/>
            <a:ext cx="46634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1F2937"/>
                </a:solidFill>
                <a:latin typeface="Calibri"/>
              </a:rPr>
              <a:t>A decision at a tick uses only requests made by that tick.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931920"/>
            <a:ext cx="5303520" cy="1920240"/>
          </a:xfrm>
          <a:prstGeom prst="roundRect">
            <a:avLst>
              <a:gd name="adj" fmla="val 8000"/>
            </a:avLst>
          </a:prstGeom>
          <a:solidFill>
            <a:srgbClr val="EE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37959" y="4160520"/>
            <a:ext cx="4663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1E2761"/>
                </a:solidFill>
                <a:latin typeface="Calibri"/>
              </a:rPr>
              <a:t>Express cars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59" y="4754880"/>
            <a:ext cx="46634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1F2937"/>
                </a:solidFill>
                <a:latin typeface="Calibri"/>
              </a:rPr>
              <a:t>An express car never stops outside its served set. Floor 1 is always served.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E2761"/>
                </a:solidFill>
                <a:latin typeface="Calibri"/>
              </a:rPr>
              <a:t>Two kinds of requirement: what it does and how well</a:t>
            </a:r>
          </a:p>
        </p:txBody>
      </p:sp>
      <p:sp>
        <p:nvSpPr>
          <p:cNvPr id="3" name="TextBox 4"/>
          <p:cNvSpPr txBox="1"/>
          <p:nvPr/>
        </p:nvSpPr>
        <p:spPr>
          <a:xfrm>
            <a:off x="640080" y="109728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1F2937"/>
                </a:solidFill>
                <a:latin typeface="Calibri"/>
              </a:rPr>
              <a:t>Both are listed in docs/requirements.md, and the tests check them</a:t>
            </a:r>
          </a:p>
        </p:txBody>
      </p:sp>
      <p:sp>
        <p:nvSpPr>
          <p:cNvPr id="4" name="Rounded Rectangle 2"/>
          <p:cNvSpPr/>
          <p:nvPr/>
        </p:nvSpPr>
        <p:spPr>
          <a:xfrm>
            <a:off x="640080" y="1645920"/>
            <a:ext cx="5303520" cy="4206240"/>
          </a:xfrm>
          <a:prstGeom prst="roundRect">
            <a:avLst>
              <a:gd name="adj" fmla="val 8000"/>
            </a:avLst>
          </a:prstGeom>
          <a:solidFill>
            <a:srgbClr val="EE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3"/>
          <p:cNvSpPr txBox="1"/>
          <p:nvPr/>
        </p:nvSpPr>
        <p:spPr>
          <a:xfrm>
            <a:off x="960119" y="1874519"/>
            <a:ext cx="4663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1E2761"/>
                </a:solidFill>
                <a:latin typeface="Calibri"/>
              </a:rPr>
              <a:t>Functional (36)</a:t>
            </a:r>
          </a:p>
        </p:txBody>
      </p:sp>
      <p:sp>
        <p:nvSpPr>
          <p:cNvPr id="6" name="TextBox 4"/>
          <p:cNvSpPr txBox="1"/>
          <p:nvPr/>
        </p:nvSpPr>
        <p:spPr>
          <a:xfrm>
            <a:off x="960119" y="2377440"/>
            <a:ext cx="4663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 i="1">
                <a:solidFill>
                  <a:srgbClr val="1F2937"/>
                </a:solidFill>
                <a:latin typeface="Calibri"/>
              </a:rPr>
              <a:t>What the simulator does</a:t>
            </a:r>
          </a:p>
        </p:txBody>
      </p:sp>
      <p:sp>
        <p:nvSpPr>
          <p:cNvPr id="7" name="TextBox 4"/>
          <p:cNvSpPr txBox="1"/>
          <p:nvPr/>
        </p:nvSpPr>
        <p:spPr>
          <a:xfrm>
            <a:off x="960119" y="2880360"/>
            <a:ext cx="4663440" cy="297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1F2937"/>
                </a:solidFill>
                <a:latin typeface="Calibri"/>
              </a:rPr>
              <a:t>•  Floors and cars, with their settings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F2937"/>
                </a:solidFill>
                <a:latin typeface="Calibri"/>
              </a:rPr>
              <a:t>•  Requests: source, destination, time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F2937"/>
                </a:solidFill>
                <a:latin typeface="Calibri"/>
              </a:rPr>
              <a:t>•  Assigning each request to a car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F2937"/>
                </a:solidFill>
                <a:latin typeface="Calibri"/>
              </a:rPr>
              <a:t>•  Movement, boarding and alighting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F2937"/>
                </a:solidFill>
                <a:latin typeface="Calibri"/>
              </a:rPr>
              <a:t>•  Traffic modes: NORMAL and rush modes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F2937"/>
                </a:solidFill>
                <a:latin typeface="Calibri"/>
              </a:rPr>
              <a:t>•  Input checks and output files</a:t>
            </a:r>
          </a:p>
        </p:txBody>
      </p:sp>
      <p:sp>
        <p:nvSpPr>
          <p:cNvPr id="8" name="Rounded Rectangle 2"/>
          <p:cNvSpPr/>
          <p:nvPr/>
        </p:nvSpPr>
        <p:spPr>
          <a:xfrm>
            <a:off x="6217920" y="1645920"/>
            <a:ext cx="5303520" cy="4206240"/>
          </a:xfrm>
          <a:prstGeom prst="roundRect">
            <a:avLst>
              <a:gd name="adj" fmla="val 8000"/>
            </a:avLst>
          </a:prstGeom>
          <a:solidFill>
            <a:srgbClr val="EE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3"/>
          <p:cNvSpPr txBox="1"/>
          <p:nvPr/>
        </p:nvSpPr>
        <p:spPr>
          <a:xfrm>
            <a:off x="6537959" y="1874519"/>
            <a:ext cx="4663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1E2761"/>
                </a:solidFill>
                <a:latin typeface="Calibri"/>
              </a:rPr>
              <a:t>Non-functional (34)</a:t>
            </a:r>
          </a:p>
        </p:txBody>
      </p:sp>
      <p:sp>
        <p:nvSpPr>
          <p:cNvPr id="10" name="TextBox 4"/>
          <p:cNvSpPr txBox="1"/>
          <p:nvPr/>
        </p:nvSpPr>
        <p:spPr>
          <a:xfrm>
            <a:off x="6537959" y="2377440"/>
            <a:ext cx="4663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 i="1">
                <a:solidFill>
                  <a:srgbClr val="1F2937"/>
                </a:solidFill>
                <a:latin typeface="Calibri"/>
              </a:rPr>
              <a:t>How well it must do it</a:t>
            </a:r>
          </a:p>
        </p:txBody>
      </p:sp>
      <p:sp>
        <p:nvSpPr>
          <p:cNvPr id="11" name="TextBox 4"/>
          <p:cNvSpPr txBox="1"/>
          <p:nvPr/>
        </p:nvSpPr>
        <p:spPr>
          <a:xfrm>
            <a:off x="6537959" y="2880360"/>
            <a:ext cx="4663440" cy="297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1F2937"/>
                </a:solidFill>
                <a:latin typeface="Calibri"/>
              </a:rPr>
              <a:t>•  Correctness and safety: capacity, direction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F2937"/>
                </a:solidFill>
                <a:latin typeface="Calibri"/>
              </a:rPr>
              <a:t>•  Determinism: same input, same output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F2937"/>
                </a:solidFill>
                <a:latin typeface="Calibri"/>
              </a:rPr>
              <a:t>•  Configurable settings, run with no arguments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F2937"/>
                </a:solidFill>
                <a:latin typeface="Calibri"/>
              </a:rPr>
              <a:t>•  Strategy design and bounded decision time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F2937"/>
                </a:solidFill>
                <a:latin typeface="Calibri"/>
              </a:rPr>
              <a:t>•  Clear error messages, no stack traces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F2937"/>
                </a:solidFill>
                <a:latin typeface="Calibri"/>
              </a:rPr>
              <a:t>•  Testability: each rule can be tested</a:t>
            </a:r>
          </a:p>
        </p:txBody>
      </p:sp>
      <p:sp>
        <p:nvSpPr>
          <p:cNvPr id="12" name="TextBox 4"/>
          <p:cNvSpPr txBox="1"/>
          <p:nvPr/>
        </p:nvSpPr>
        <p:spPr>
          <a:xfrm>
            <a:off x="640080" y="603504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F2937"/>
                </a:solidFill>
                <a:latin typeface="Calibri"/>
              </a:rPr>
              <a:t>Functional requirements say what the simulator must do. Non-functional requirements set the standards it must meet.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E2761"/>
                </a:solidFill>
                <a:latin typeface="Calibri"/>
              </a:rPr>
              <a:t>Traffic modes: NORMAL and four rush modes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>
                <a:solidFill>
                  <a:srgbClr val="5B6478"/>
                </a:solidFill>
                <a:latin typeface="Calibri"/>
              </a:rPr>
              <a:t>One mode is set for each run in elevator.properties (mode=). It decides where an empty car waits.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828800"/>
          <a:ext cx="10972800" cy="32918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39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Mode</a:t>
                      </a:r>
                    </a:p>
                  </a:txBody>
                  <a:tcPr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Who is travelling</a:t>
                      </a:r>
                    </a:p>
                  </a:txBody>
                  <a:tcPr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Where an empty car waits</a:t>
                      </a:r>
                    </a:p>
                  </a:txBody>
                  <a:tcPr anchor="ctr"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39"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NORMAL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No rush. Everyone is served as they call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The car stays where it last stopped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39"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MORNING_RUSH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People arriving and going up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Floor 1 (the lobby)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39"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LUNCH_BACK_RUSH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People returning and going up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Floor 1 (the lobby)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39"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LUNCH_OUT_RUSH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People leaving and going down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A parking floor set for each car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4"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EVENING_RUSH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People leaving and going down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A parking floor set for each car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53949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1F2937"/>
                </a:solidFill>
                <a:latin typeface="Calibri"/>
              </a:rPr>
              <a:t>The rush modes change only where empty cars wait. The strategies, the eligibility rules and the car movement are the same in every mode.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E2761"/>
                </a:solidFill>
                <a:latin typeface="Calibri"/>
              </a:rPr>
              <a:t>Technical design: six layers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5B6478"/>
                </a:solidFill>
                <a:latin typeface="Calibri"/>
              </a:rPr>
              <a:t>Each layer depends only on the layers below it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737360"/>
            <a:ext cx="1051560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" y="1847088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1E2761"/>
                </a:solidFill>
                <a:latin typeface="Calibri"/>
              </a:rPr>
              <a:t>config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66160" y="1847088"/>
            <a:ext cx="7589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1F2937"/>
                </a:solidFill>
                <a:latin typeface="Calibri"/>
              </a:rPr>
              <a:t>settings, checks, building the cars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514600"/>
            <a:ext cx="10515600" cy="640080"/>
          </a:xfrm>
          <a:prstGeom prst="roundRect">
            <a:avLst>
              <a:gd name="adj" fmla="val 8000"/>
            </a:avLst>
          </a:prstGeom>
          <a:solidFill>
            <a:srgbClr val="EE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2624328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1E2761"/>
                </a:solidFill>
                <a:latin typeface="Calibri"/>
              </a:rPr>
              <a:t>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2624328"/>
            <a:ext cx="7589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1F2937"/>
                </a:solidFill>
                <a:latin typeface="Calibri"/>
              </a:rPr>
              <a:t>Car, Trip, PassengerRequest, Direction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291839"/>
            <a:ext cx="1051560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97280" y="3401568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1E2761"/>
                </a:solidFill>
                <a:latin typeface="Calibri"/>
              </a:rPr>
              <a:t>dispatch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3401568"/>
            <a:ext cx="7589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1F2937"/>
                </a:solidFill>
                <a:latin typeface="Calibri"/>
              </a:rPr>
              <a:t>the strategies and the eligibility tiers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4069079"/>
            <a:ext cx="10515600" cy="640080"/>
          </a:xfrm>
          <a:prstGeom prst="roundRect">
            <a:avLst>
              <a:gd name="adj" fmla="val 8000"/>
            </a:avLst>
          </a:prstGeom>
          <a:solidFill>
            <a:srgbClr val="EE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97280" y="4178807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1E2761"/>
                </a:solidFill>
                <a:latin typeface="Calibri"/>
              </a:rPr>
              <a:t>simulator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4178807"/>
            <a:ext cx="7589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1F2937"/>
                </a:solidFill>
                <a:latin typeface="Calibri"/>
              </a:rPr>
              <a:t>tick loop, request queue, movement and boarding rules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846320"/>
            <a:ext cx="1051560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97280" y="4956048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1E2761"/>
                </a:solidFill>
                <a:latin typeface="Calibri"/>
              </a:rPr>
              <a:t>files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0" y="4956048"/>
            <a:ext cx="7589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1F2937"/>
                </a:solidFill>
                <a:latin typeface="Calibri"/>
              </a:rPr>
              <a:t>request reader and output writer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5623560"/>
            <a:ext cx="10515600" cy="640080"/>
          </a:xfrm>
          <a:prstGeom prst="roundRect">
            <a:avLst>
              <a:gd name="adj" fmla="val 8000"/>
            </a:avLst>
          </a:prstGeom>
          <a:solidFill>
            <a:srgbClr val="EE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97280" y="5733288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1E2761"/>
                </a:solidFill>
                <a:latin typeface="Calibri"/>
              </a:rPr>
              <a:t>metrics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0" y="5733288"/>
            <a:ext cx="7589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1F2937"/>
                </a:solidFill>
                <a:latin typeface="Calibri"/>
              </a:rPr>
              <a:t>waits, total times, summary statistics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E2761"/>
                </a:solidFill>
                <a:latin typeface="Calibri"/>
              </a:rPr>
              <a:t>Technical design: one tick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5B6478"/>
                </a:solidFill>
                <a:latin typeface="Calibri"/>
              </a:rPr>
              <a:t>The same order in the real run and in every forward-run copy</a:t>
            </a:r>
          </a:p>
        </p:txBody>
      </p:sp>
      <p:sp>
        <p:nvSpPr>
          <p:cNvPr id="4" name="Pentagon 3"/>
          <p:cNvSpPr/>
          <p:nvPr/>
        </p:nvSpPr>
        <p:spPr>
          <a:xfrm>
            <a:off x="548640" y="2377440"/>
            <a:ext cx="2377440" cy="1463040"/>
          </a:xfrm>
          <a:prstGeom prst="homePlat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Record car floors</a:t>
            </a:r>
          </a:p>
        </p:txBody>
      </p:sp>
      <p:sp>
        <p:nvSpPr>
          <p:cNvPr id="5" name="Chevron 4"/>
          <p:cNvSpPr/>
          <p:nvPr/>
        </p:nvSpPr>
        <p:spPr>
          <a:xfrm>
            <a:off x="2834640" y="2377440"/>
            <a:ext cx="2377440" cy="1463040"/>
          </a:xfrm>
          <a:prstGeom prst="chevron">
            <a:avLst/>
          </a:prstGeom>
          <a:solidFill>
            <a:srgbClr val="3A46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Release requests made now</a:t>
            </a:r>
          </a:p>
        </p:txBody>
      </p:sp>
      <p:sp>
        <p:nvSpPr>
          <p:cNvPr id="6" name="Chevron 5"/>
          <p:cNvSpPr/>
          <p:nvPr/>
        </p:nvSpPr>
        <p:spPr>
          <a:xfrm>
            <a:off x="5120640" y="2377440"/>
            <a:ext cx="2377440" cy="1463040"/>
          </a:xfrm>
          <a:prstGeom prst="chevron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Assign each to a car</a:t>
            </a:r>
          </a:p>
        </p:txBody>
      </p:sp>
      <p:sp>
        <p:nvSpPr>
          <p:cNvPr id="7" name="Chevron 6"/>
          <p:cNvSpPr/>
          <p:nvPr/>
        </p:nvSpPr>
        <p:spPr>
          <a:xfrm>
            <a:off x="7406640" y="2377440"/>
            <a:ext cx="2377440" cy="1463040"/>
          </a:xfrm>
          <a:prstGeom prst="chevron">
            <a:avLst/>
          </a:prstGeom>
          <a:solidFill>
            <a:srgbClr val="3A46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Alight, then board</a:t>
            </a:r>
          </a:p>
        </p:txBody>
      </p:sp>
      <p:sp>
        <p:nvSpPr>
          <p:cNvPr id="8" name="Chevron 7"/>
          <p:cNvSpPr/>
          <p:nvPr/>
        </p:nvSpPr>
        <p:spPr>
          <a:xfrm>
            <a:off x="9692640" y="2377440"/>
            <a:ext cx="2377440" cy="1463040"/>
          </a:xfrm>
          <a:prstGeom prst="chevron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Move one floor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297680"/>
            <a:ext cx="109728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Each car, in car-number order, does its alight and board, then moves one floor.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Passengers board only in the car's direction, and only when there is a free seat.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E2761"/>
                </a:solidFill>
                <a:latin typeface="Calibri"/>
              </a:rPr>
              <a:t>Predicting a pickup time: the forward run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5B6478"/>
                </a:solidFill>
                <a:latin typeface="Calibri"/>
              </a:rPr>
              <a:t>Time-based strategies simulate each car instead of guessing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5120640" cy="3931920"/>
          </a:xfrm>
          <a:prstGeom prst="roundRect">
            <a:avLst>
              <a:gd name="adj" fmla="val 8000"/>
            </a:avLst>
          </a:prstGeom>
          <a:solidFill>
            <a:srgbClr val="EE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205740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E2761"/>
                </a:solidFill>
                <a:latin typeface="Calibri"/>
              </a:rPr>
              <a:t>1. Copy the car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06040"/>
            <a:ext cx="4572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1F2937"/>
                </a:solidFill>
                <a:latin typeface="Calibri"/>
              </a:rPr>
              <a:t>Riders and pending passengers are copied with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42900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E2761"/>
                </a:solidFill>
                <a:latin typeface="Calibri"/>
              </a:rPr>
              <a:t>2. Add the new request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977639"/>
            <a:ext cx="4572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1F2937"/>
                </a:solidFill>
                <a:latin typeface="Calibri"/>
              </a:rPr>
              <a:t>Run the copy forward, one tick at a time, with the same steps.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828800"/>
            <a:ext cx="5212080" cy="3931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83680" y="2057400"/>
            <a:ext cx="4663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E2761"/>
                </a:solidFill>
                <a:latin typeface="Calibri"/>
              </a:rPr>
              <a:t>3. Read the result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606040"/>
            <a:ext cx="46634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1F2937"/>
                </a:solidFill>
                <a:latin typeface="Calibri"/>
              </a:rPr>
              <a:t>The tick at which the new passenger boards gives the pickup time.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3429000"/>
            <a:ext cx="4663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E2761"/>
                </a:solidFill>
                <a:latin typeface="Calibri"/>
              </a:rPr>
              <a:t>4. Throw the copy away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3977639"/>
            <a:ext cx="46634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1F2937"/>
                </a:solidFill>
                <a:latin typeface="Calibri"/>
              </a:rPr>
              <a:t>The real car and its trips are never changed.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" y="196785"/>
            <a:ext cx="10972800" cy="13133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267" b="1">
                <a:solidFill>
                  <a:srgbClr val="1E2761"/>
                </a:solidFill>
                <a:latin typeface="Calibri"/>
              </a:rPr>
              <a:t>Round Robin: take turns, and group same-direction riders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828801"/>
            <a:ext cx="5486400" cy="263104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365751" indent="-365751">
              <a:spcAft>
                <a:spcPts val="1333"/>
              </a:spcAft>
              <a:buFont typeface="Arial"/>
              <a:buChar char="•"/>
            </a:pPr>
            <a:r>
              <a:rPr sz="2133">
                <a:solidFill>
                  <a:srgbClr val="1F2937"/>
                </a:solidFill>
                <a:latin typeface="Calibri"/>
              </a:rPr>
              <a:t>Cars are tried in rotation. The pointer moves past the car that was picked.</a:t>
            </a:r>
          </a:p>
          <a:p>
            <a:pPr marL="365751" indent="-365751">
              <a:spcAft>
                <a:spcPts val="1333"/>
              </a:spcAft>
              <a:buFont typeface="Arial"/>
              <a:buChar char="•"/>
            </a:pPr>
            <a:r>
              <a:rPr sz="2133">
                <a:solidFill>
                  <a:srgbClr val="1F2937"/>
                </a:solidFill>
                <a:latin typeface="Calibri"/>
              </a:rPr>
              <a:t>Requests made at the same time, going the same way, share a car if it has room for all of them and can reach both floors.</a:t>
            </a:r>
          </a:p>
          <a:p>
            <a:pPr marL="365751" indent="-365751">
              <a:spcAft>
                <a:spcPts val="1333"/>
              </a:spcAft>
              <a:buFont typeface="Arial"/>
              <a:buChar char="•"/>
            </a:pPr>
            <a:r>
              <a:rPr sz="2133">
                <a:solidFill>
                  <a:srgbClr val="1F2937"/>
                </a:solidFill>
                <a:latin typeface="Calibri"/>
              </a:rPr>
              <a:t>A request that cannot be grouped goes alone, to the next car in rotation.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61760" y="1828800"/>
            <a:ext cx="5120640" cy="1341120"/>
          </a:xfrm>
          <a:prstGeom prst="rect">
            <a:avLst/>
          </a:prstGeom>
          <a:solidFill>
            <a:srgbClr val="EE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5" name="TextBox 4"/>
          <p:cNvSpPr txBox="1"/>
          <p:nvPr/>
        </p:nvSpPr>
        <p:spPr>
          <a:xfrm>
            <a:off x="6705600" y="2047922"/>
            <a:ext cx="4693920" cy="9028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133" b="1">
                <a:solidFill>
                  <a:srgbClr val="1E2761"/>
                </a:solidFill>
                <a:latin typeface="Calibri"/>
              </a:rPr>
              <a:t>Pass 1: ready now</a:t>
            </a:r>
          </a:p>
          <a:p>
            <a:pPr algn="l"/>
            <a:r>
              <a:rPr sz="1867">
                <a:solidFill>
                  <a:srgbClr val="1F2937"/>
                </a:solidFill>
                <a:latin typeface="Calibri"/>
              </a:rPr>
              <a:t>Has room, and is idle or going the passenger's way with the passenger ahead.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61760" y="3352800"/>
            <a:ext cx="5120640" cy="1341120"/>
          </a:xfrm>
          <a:prstGeom prst="rect">
            <a:avLst/>
          </a:prstGeom>
          <a:solidFill>
            <a:srgbClr val="EE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7" name="TextBox 6"/>
          <p:cNvSpPr txBox="1"/>
          <p:nvPr/>
        </p:nvSpPr>
        <p:spPr>
          <a:xfrm>
            <a:off x="6705600" y="3571922"/>
            <a:ext cx="4693920" cy="9028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133" b="1">
                <a:solidFill>
                  <a:srgbClr val="1E2761"/>
                </a:solidFill>
                <a:latin typeface="Calibri"/>
              </a:rPr>
              <a:t>Pass 2: has room</a:t>
            </a:r>
          </a:p>
          <a:p>
            <a:pPr algn="l"/>
            <a:r>
              <a:rPr sz="1867">
                <a:solidFill>
                  <a:srgbClr val="1F2937"/>
                </a:solidFill>
                <a:latin typeface="Calibri"/>
              </a:rPr>
              <a:t>Has room, whatever its direction, since it will turn around.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61760" y="4876800"/>
            <a:ext cx="5120640" cy="1341120"/>
          </a:xfrm>
          <a:prstGeom prst="rect">
            <a:avLst/>
          </a:prstGeom>
          <a:solidFill>
            <a:srgbClr val="EE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9" name="TextBox 8"/>
          <p:cNvSpPr txBox="1"/>
          <p:nvPr/>
        </p:nvSpPr>
        <p:spPr>
          <a:xfrm>
            <a:off x="6705600" y="5239584"/>
            <a:ext cx="4693920" cy="61555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133" b="1">
                <a:solidFill>
                  <a:srgbClr val="1E2761"/>
                </a:solidFill>
                <a:latin typeface="Calibri"/>
              </a:rPr>
              <a:t>Pass 3: any car</a:t>
            </a:r>
          </a:p>
          <a:p>
            <a:pPr algn="l"/>
            <a:r>
              <a:rPr sz="1867">
                <a:solidFill>
                  <a:srgbClr val="1F2937"/>
                </a:solidFill>
                <a:latin typeface="Calibri"/>
              </a:rPr>
              <a:t>Any car that serves both floors.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" y="196785"/>
            <a:ext cx="10972800" cy="13133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267" b="1">
                <a:solidFill>
                  <a:srgbClr val="1E2761"/>
                </a:solidFill>
                <a:latin typeface="Calibri"/>
              </a:rPr>
              <a:t>Nearest Car Simple: distance in floors (comparison only)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828800"/>
            <a:ext cx="6583680" cy="27977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365751" indent="-365751">
              <a:spcAft>
                <a:spcPts val="1333"/>
              </a:spcAft>
              <a:buFont typeface="Arial"/>
              <a:buChar char="•"/>
            </a:pPr>
            <a:r>
              <a:rPr sz="2133" dirty="0">
                <a:solidFill>
                  <a:srgbClr val="1F2937"/>
                </a:solidFill>
                <a:latin typeface="Calibri"/>
              </a:rPr>
              <a:t>Distance is the number of floors between the car and the passenger.</a:t>
            </a:r>
          </a:p>
          <a:p>
            <a:pPr marL="365751" indent="-365751">
              <a:spcAft>
                <a:spcPts val="1333"/>
              </a:spcAft>
              <a:buFont typeface="Arial"/>
              <a:buChar char="•"/>
            </a:pPr>
            <a:r>
              <a:rPr sz="2133" dirty="0">
                <a:solidFill>
                  <a:srgbClr val="1F2937"/>
                </a:solidFill>
                <a:latin typeface="Calibri"/>
              </a:rPr>
              <a:t>A car that can take the passenger now always beats a car that cannot.</a:t>
            </a:r>
          </a:p>
          <a:p>
            <a:pPr marL="365751" indent="-365751">
              <a:spcAft>
                <a:spcPts val="1333"/>
              </a:spcAft>
              <a:buFont typeface="Arial"/>
              <a:buChar char="•"/>
            </a:pPr>
            <a:r>
              <a:rPr sz="2133" dirty="0">
                <a:solidFill>
                  <a:srgbClr val="1F2937"/>
                </a:solidFill>
                <a:latin typeface="Calibri"/>
              </a:rPr>
              <a:t>If no car can take them now, the nearest car that serves both floors still gets them.</a:t>
            </a:r>
          </a:p>
          <a:p>
            <a:pPr marL="365751" indent="-365751">
              <a:spcAft>
                <a:spcPts val="1333"/>
              </a:spcAft>
              <a:buFont typeface="Arial"/>
              <a:buChar char="•"/>
            </a:pPr>
            <a:r>
              <a:rPr sz="2133" dirty="0">
                <a:solidFill>
                  <a:srgbClr val="1F2937"/>
                </a:solidFill>
                <a:latin typeface="Calibri"/>
              </a:rPr>
              <a:t>A tie goes to the lower car number.</a:t>
            </a:r>
          </a:p>
        </p:txBody>
      </p:sp>
      <p:sp>
        <p:nvSpPr>
          <p:cNvPr id="4" name="Rectangle 3"/>
          <p:cNvSpPr/>
          <p:nvPr/>
        </p:nvSpPr>
        <p:spPr>
          <a:xfrm>
            <a:off x="7802880" y="1828800"/>
            <a:ext cx="3779520" cy="2438400"/>
          </a:xfrm>
          <a:prstGeom prst="rect">
            <a:avLst/>
          </a:prstGeom>
          <a:solidFill>
            <a:srgbClr val="EE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5" name="TextBox 4"/>
          <p:cNvSpPr txBox="1"/>
          <p:nvPr/>
        </p:nvSpPr>
        <p:spPr>
          <a:xfrm>
            <a:off x="8046720" y="2473452"/>
            <a:ext cx="3291840" cy="114909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133">
                <a:solidFill>
                  <a:srgbClr val="5B6478"/>
                </a:solidFill>
                <a:latin typeface="Calibri"/>
              </a:rPr>
              <a:t>Distance</a:t>
            </a:r>
          </a:p>
          <a:p>
            <a:pPr algn="ctr"/>
            <a:r>
              <a:rPr sz="2667" b="1">
                <a:solidFill>
                  <a:srgbClr val="1E2761"/>
                </a:solidFill>
                <a:latin typeface="Calibri"/>
              </a:rPr>
              <a:t>|car floor − passenger floor|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" y="525111"/>
            <a:ext cx="10972800" cy="6566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267" b="1" dirty="0">
                <a:solidFill>
                  <a:srgbClr val="1E2761"/>
                </a:solidFill>
                <a:latin typeface="Calibri"/>
              </a:rPr>
              <a:t>Nearest Car: the nearest car in floors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828801"/>
            <a:ext cx="6339840" cy="31259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365751" indent="-365751">
              <a:spcAft>
                <a:spcPts val="1333"/>
              </a:spcAft>
              <a:buFont typeface="Arial"/>
              <a:buChar char="•"/>
            </a:pPr>
            <a:r>
              <a:rPr sz="2133">
                <a:solidFill>
                  <a:srgbClr val="1F2937"/>
                </a:solidFill>
                <a:latin typeface="Calibri"/>
              </a:rPr>
              <a:t>Only cars with room for the passenger now are measured, unless no car has room.</a:t>
            </a:r>
          </a:p>
          <a:p>
            <a:pPr marL="365751" indent="-365751">
              <a:spcAft>
                <a:spcPts val="1333"/>
              </a:spcAft>
              <a:buFont typeface="Arial"/>
              <a:buChar char="•"/>
            </a:pPr>
            <a:r>
              <a:rPr sz="2133">
                <a:solidFill>
                  <a:srgbClr val="1F2937"/>
                </a:solidFill>
                <a:latin typeface="Calibri"/>
              </a:rPr>
              <a:t>Distance is the floors to the passenger. A car heading away also pays the floors to its turn point and back.</a:t>
            </a:r>
          </a:p>
          <a:p>
            <a:pPr marL="365751" indent="-365751">
              <a:spcAft>
                <a:spcPts val="1333"/>
              </a:spcAft>
              <a:buFont typeface="Arial"/>
              <a:buChar char="•"/>
            </a:pPr>
            <a:r>
              <a:rPr sz="2133">
                <a:solidFill>
                  <a:srgbClr val="1F2937"/>
                </a:solidFill>
                <a:latin typeface="Calibri"/>
              </a:rPr>
              <a:t>The car with the smallest distance gets the request. Ties go to the lower car number.</a:t>
            </a:r>
          </a:p>
        </p:txBody>
      </p:sp>
      <p:sp>
        <p:nvSpPr>
          <p:cNvPr id="4" name="Rectangle 3"/>
          <p:cNvSpPr/>
          <p:nvPr/>
        </p:nvSpPr>
        <p:spPr>
          <a:xfrm>
            <a:off x="7559040" y="1828800"/>
            <a:ext cx="4023360" cy="3169920"/>
          </a:xfrm>
          <a:prstGeom prst="rect">
            <a:avLst/>
          </a:prstGeom>
          <a:solidFill>
            <a:srgbClr val="EE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5" name="TextBox 4"/>
          <p:cNvSpPr txBox="1"/>
          <p:nvPr/>
        </p:nvSpPr>
        <p:spPr>
          <a:xfrm>
            <a:off x="7924800" y="2695551"/>
            <a:ext cx="3352800" cy="143641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133">
                <a:solidFill>
                  <a:srgbClr val="5B6478"/>
                </a:solidFill>
                <a:latin typeface="Calibri"/>
              </a:rPr>
              <a:t>Distance</a:t>
            </a:r>
          </a:p>
          <a:p>
            <a:pPr algn="ctr"/>
            <a:r>
              <a:rPr sz="2667" b="1">
                <a:solidFill>
                  <a:srgbClr val="1E2761"/>
                </a:solidFill>
                <a:latin typeface="Calibri"/>
              </a:rPr>
              <a:t>floors to the passenger, plus the detour</a:t>
            </a:r>
          </a:p>
          <a:p>
            <a:pPr algn="ctr"/>
            <a:r>
              <a:rPr sz="1867">
                <a:solidFill>
                  <a:srgbClr val="1F2937"/>
                </a:solidFill>
                <a:latin typeface="Calibri"/>
              </a:rPr>
              <a:t>an estimate: stops, seats and time at each floor are not counted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 dirty="0">
                <a:solidFill>
                  <a:srgbClr val="1E2761"/>
                </a:solidFill>
                <a:latin typeface="Calibri"/>
              </a:rPr>
              <a:t>Nearest Car Forward Run</a:t>
            </a:r>
            <a:r>
              <a:rPr lang="en-US" sz="3200" b="1" dirty="0">
                <a:solidFill>
                  <a:srgbClr val="1E2761"/>
                </a:solidFill>
                <a:latin typeface="Calibri"/>
              </a:rPr>
              <a:t>: the fastest pickup</a:t>
            </a:r>
            <a:endParaRPr sz="3200" b="1" dirty="0">
              <a:solidFill>
                <a:srgbClr val="1E2761"/>
              </a:solidFill>
              <a:latin typeface="Calibr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5852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Each eligible car is tested with a forward run: a copy of the car, with the new request added, runs one tick at a time.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The copy includes the car's riders and pending passengers, so stops, seats and turns are counted.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The car with the smallest wait gets the request. Ties go to the lower car number.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49440" y="1828800"/>
            <a:ext cx="4572000" cy="3291840"/>
          </a:xfrm>
          <a:prstGeom prst="roundRect">
            <a:avLst>
              <a:gd name="adj" fmla="val 8000"/>
            </a:avLst>
          </a:prstGeom>
          <a:solidFill>
            <a:srgbClr val="EE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223760" y="205740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600" b="0">
                <a:solidFill>
                  <a:srgbClr val="5B6478"/>
                </a:solidFill>
                <a:latin typeface="Calibri"/>
              </a:rPr>
              <a:t>Score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23760" y="2651760"/>
            <a:ext cx="4023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1E2761"/>
                </a:solidFill>
                <a:latin typeface="Calibri"/>
              </a:rPr>
              <a:t>pickup time − request 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23760" y="4206240"/>
            <a:ext cx="402336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500" b="0" dirty="0">
                <a:solidFill>
                  <a:srgbClr val="1F2937"/>
                </a:solidFill>
                <a:latin typeface="Calibri"/>
              </a:rPr>
              <a:t>measured in ticks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>
                <a:solidFill>
                  <a:srgbClr val="1E2761"/>
                </a:solidFill>
                <a:latin typeface="Calibri"/>
              </a:rPr>
              <a:t>Balanced: pickup time against load (FR-ASN-4d)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5852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Each eligible car gets a score from its wait and its load.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The car with the lowest score gets the request. Ties go to the lower car number.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Both weights default to 1.0 and are set in the code. With the load weight at 0, it matches Nearest Car Forward Run.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49440" y="1828800"/>
            <a:ext cx="4572000" cy="3291840"/>
          </a:xfrm>
          <a:prstGeom prst="roundRect">
            <a:avLst>
              <a:gd name="adj" fmla="val 8000"/>
            </a:avLst>
          </a:prstGeom>
          <a:solidFill>
            <a:srgbClr val="EE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223760" y="205740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600" b="0">
                <a:solidFill>
                  <a:srgbClr val="5B6478"/>
                </a:solidFill>
                <a:latin typeface="Calibri"/>
              </a:rPr>
              <a:t>Score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23760" y="2651760"/>
            <a:ext cx="4023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1E2761"/>
                </a:solidFill>
                <a:latin typeface="Calibri"/>
              </a:rPr>
              <a:t>wait_time_weight × wait + car_load_weight × passengers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23760" y="4206240"/>
            <a:ext cx="4023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500" b="0">
                <a:solidFill>
                  <a:srgbClr val="1F2937"/>
                </a:solidFill>
                <a:latin typeface="Calibri"/>
              </a:rPr>
              <a:t>passengers = riders plus pending passengers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" y="196785"/>
            <a:ext cx="10972800" cy="13133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267" b="1">
                <a:solidFill>
                  <a:srgbClr val="1E2761"/>
                </a:solidFill>
                <a:latin typeface="Calibri"/>
              </a:rPr>
              <a:t>Cost Based: keep every passenger's wait fair (FR-ASN-4c)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828800"/>
            <a:ext cx="6339840" cy="27977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365751" indent="-365751">
              <a:spcAft>
                <a:spcPts val="1333"/>
              </a:spcAft>
              <a:buFont typeface="Arial"/>
              <a:buChar char="•"/>
            </a:pPr>
            <a:r>
              <a:rPr sz="2133">
                <a:solidFill>
                  <a:srgbClr val="1F2937"/>
                </a:solidFill>
                <a:latin typeface="Calibri"/>
              </a:rPr>
              <a:t>Each eligible car is tested with a forward run that predicts its trips, including the new passenger.</a:t>
            </a:r>
          </a:p>
          <a:p>
            <a:pPr marL="365751" indent="-365751">
              <a:spcAft>
                <a:spcPts val="1333"/>
              </a:spcAft>
              <a:buFont typeface="Arial"/>
              <a:buChar char="•"/>
            </a:pPr>
            <a:r>
              <a:rPr sz="2133">
                <a:solidFill>
                  <a:srgbClr val="1F2937"/>
                </a:solidFill>
                <a:latin typeface="Calibri"/>
              </a:rPr>
              <a:t>A car's largest wait is the longest wait of anyone on it, the new passenger included.</a:t>
            </a:r>
          </a:p>
          <a:p>
            <a:pPr marL="365751" indent="-365751">
              <a:spcAft>
                <a:spcPts val="1333"/>
              </a:spcAft>
              <a:buFont typeface="Arial"/>
              <a:buChar char="•"/>
            </a:pPr>
            <a:r>
              <a:rPr sz="2133">
                <a:solidFill>
                  <a:srgbClr val="1F2937"/>
                </a:solidFill>
                <a:latin typeface="Calibri"/>
              </a:rPr>
              <a:t>The car with the smallest largest wait gets the request, so no one is left far behind.</a:t>
            </a:r>
          </a:p>
          <a:p>
            <a:pPr marL="365751" indent="-365751">
              <a:spcAft>
                <a:spcPts val="1333"/>
              </a:spcAft>
              <a:buFont typeface="Arial"/>
              <a:buChar char="•"/>
            </a:pPr>
            <a:r>
              <a:rPr sz="2133">
                <a:solidFill>
                  <a:srgbClr val="1F2937"/>
                </a:solidFill>
                <a:latin typeface="Calibri"/>
              </a:rPr>
              <a:t>A tie goes to the lower car number.</a:t>
            </a:r>
          </a:p>
        </p:txBody>
      </p:sp>
      <p:sp>
        <p:nvSpPr>
          <p:cNvPr id="4" name="Rectangle 3"/>
          <p:cNvSpPr/>
          <p:nvPr/>
        </p:nvSpPr>
        <p:spPr>
          <a:xfrm>
            <a:off x="7559040" y="1828800"/>
            <a:ext cx="4023360" cy="1828800"/>
          </a:xfrm>
          <a:prstGeom prst="rect">
            <a:avLst/>
          </a:prstGeom>
          <a:solidFill>
            <a:srgbClr val="EE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5" name="TextBox 4"/>
          <p:cNvSpPr txBox="1"/>
          <p:nvPr/>
        </p:nvSpPr>
        <p:spPr>
          <a:xfrm>
            <a:off x="7802880" y="2209753"/>
            <a:ext cx="3596640" cy="106689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133">
                <a:solidFill>
                  <a:srgbClr val="5B6478"/>
                </a:solidFill>
                <a:latin typeface="Calibri"/>
              </a:rPr>
              <a:t>Largest wait of a car</a:t>
            </a:r>
          </a:p>
          <a:p>
            <a:pPr algn="ctr"/>
            <a:r>
              <a:rPr sz="2400" b="1">
                <a:solidFill>
                  <a:srgbClr val="1E2761"/>
                </a:solidFill>
                <a:latin typeface="Calibri"/>
              </a:rPr>
              <a:t>max wait over its predicted trips</a:t>
            </a:r>
          </a:p>
        </p:txBody>
      </p:sp>
      <p:sp>
        <p:nvSpPr>
          <p:cNvPr id="6" name="Rectangle 5"/>
          <p:cNvSpPr/>
          <p:nvPr/>
        </p:nvSpPr>
        <p:spPr>
          <a:xfrm>
            <a:off x="7559040" y="3901440"/>
            <a:ext cx="4023360" cy="1828800"/>
          </a:xfrm>
          <a:prstGeom prst="rect">
            <a:avLst/>
          </a:prstGeom>
          <a:solidFill>
            <a:srgbClr val="EE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7" name="TextBox 6"/>
          <p:cNvSpPr txBox="1"/>
          <p:nvPr/>
        </p:nvSpPr>
        <p:spPr>
          <a:xfrm>
            <a:off x="7802880" y="4467058"/>
            <a:ext cx="3596640" cy="69756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133">
                <a:solidFill>
                  <a:srgbClr val="5B6478"/>
                </a:solidFill>
                <a:latin typeface="Calibri"/>
              </a:rPr>
              <a:t>Chosen car</a:t>
            </a:r>
          </a:p>
          <a:p>
            <a:pPr algn="ctr"/>
            <a:r>
              <a:rPr sz="2400" b="1">
                <a:solidFill>
                  <a:srgbClr val="1E2761"/>
                </a:solidFill>
                <a:latin typeface="Calibri"/>
              </a:rPr>
              <a:t>smallest largest wait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E2761"/>
                </a:solidFill>
                <a:latin typeface="Calibri"/>
              </a:rPr>
              <a:t>Six strategies, two ways of measuring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5B6478"/>
                </a:solidFill>
                <a:latin typeface="Calibri"/>
              </a:rPr>
              <a:t>Distance-based strategies use floors. Time-based strategies use the forward run.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6741033"/>
              </p:ext>
            </p:extLst>
          </p:nvPr>
        </p:nvGraphicFramePr>
        <p:xfrm>
          <a:off x="640080" y="1828800"/>
          <a:ext cx="109728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Strategy</a:t>
                      </a:r>
                    </a:p>
                  </a:txBody>
                  <a:tcPr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Measures</a:t>
                      </a:r>
                    </a:p>
                  </a:txBody>
                  <a:tcPr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Forward run</a:t>
                      </a:r>
                    </a:p>
                  </a:txBody>
                  <a:tcPr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Filters first</a:t>
                      </a:r>
                    </a:p>
                  </a:txBody>
                  <a:tcPr anchor="ctr"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600" b="1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ROUND_ROBIN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Rotation, direction, room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Ready cars first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600" b="1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rPr dirty="0"/>
                        <a:t>NEAREST_CAR</a:t>
                      </a:r>
                      <a:r>
                        <a:rPr lang="en-US" dirty="0"/>
                        <a:t>_SIMPLE</a:t>
                      </a:r>
                      <a:endParaRPr dirty="0"/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6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rPr lang="en-US" dirty="0"/>
                        <a:t>Floors only</a:t>
                      </a:r>
                      <a:endParaRPr dirty="0"/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rPr dirty="0"/>
                        <a:t>No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rPr dirty="0"/>
                        <a:t>Ready cars first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600" b="1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rPr dirty="0"/>
                        <a:t>NEAREST_CAR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rPr lang="en-US" dirty="0"/>
                        <a:t>Floors, plus the turn detour</a:t>
                      </a:r>
                      <a:endParaRPr dirty="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rPr dirty="0"/>
                        <a:t>No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rPr dirty="0"/>
                        <a:t>Cars with room first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600" b="1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NEAREST_CAR_FORWARD_RUN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Ticks to pickup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rPr dirty="0"/>
                        <a:t>No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600" b="1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rPr lang="en-US" dirty="0"/>
                        <a:t>BALANCED_STRATEGY</a:t>
                      </a:r>
                      <a:endParaRPr dirty="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rPr lang="en-US" dirty="0"/>
                        <a:t>Wait + load</a:t>
                      </a:r>
                      <a:endParaRPr dirty="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600" b="1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rPr lang="en-US" dirty="0"/>
                        <a:t>COST_BASED</a:t>
                      </a:r>
                      <a:endParaRPr dirty="0"/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6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rPr lang="en-US" dirty="0"/>
                        <a:t>Longest predicted wait</a:t>
                      </a:r>
                      <a:endParaRPr dirty="0"/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rPr dirty="0"/>
                        <a:t>No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E2761"/>
                </a:solidFill>
                <a:latin typeface="Calibri"/>
              </a:rPr>
              <a:t>How the time-based strategies score a car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828800"/>
            <a:ext cx="3520440" cy="3840480"/>
          </a:xfrm>
          <a:prstGeom prst="roundRect">
            <a:avLst>
              <a:gd name="adj" fmla="val 8000"/>
            </a:avLst>
          </a:prstGeom>
          <a:solidFill>
            <a:srgbClr val="EE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14400" y="2103120"/>
            <a:ext cx="548640" cy="548640"/>
          </a:xfrm>
          <a:prstGeom prst="ellipse">
            <a:avLst/>
          </a:prstGeom>
          <a:solidFill>
            <a:srgbClr val="F2A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E2761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3017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E2761"/>
                </a:solidFill>
                <a:latin typeface="Calibri"/>
              </a:rPr>
              <a:t>Forward run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566160"/>
            <a:ext cx="301752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1F2937"/>
                </a:solidFill>
                <a:latin typeface="Calibri"/>
              </a:rPr>
              <a:t>Wait in ticks until the car picks the passenger up.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828800"/>
            <a:ext cx="3520440" cy="3840480"/>
          </a:xfrm>
          <a:prstGeom prst="roundRect">
            <a:avLst>
              <a:gd name="adj" fmla="val 8000"/>
            </a:avLst>
          </a:prstGeom>
          <a:solidFill>
            <a:srgbClr val="EE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4663440" y="2103120"/>
            <a:ext cx="548640" cy="548640"/>
          </a:xfrm>
          <a:prstGeom prst="ellipse">
            <a:avLst/>
          </a:prstGeom>
          <a:solidFill>
            <a:srgbClr val="F2A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E2761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2926080"/>
            <a:ext cx="3017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E2761"/>
                </a:solidFill>
                <a:latin typeface="Calibri"/>
              </a:rPr>
              <a:t>Cost Based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3566160"/>
            <a:ext cx="301752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1F2937"/>
                </a:solidFill>
                <a:latin typeface="Calibri"/>
              </a:rPr>
              <a:t>The longest wait of anyone on the car after the new passenger is added. The smallest wins.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59" y="1828800"/>
            <a:ext cx="3520440" cy="3840480"/>
          </a:xfrm>
          <a:prstGeom prst="roundRect">
            <a:avLst>
              <a:gd name="adj" fmla="val 8000"/>
            </a:avLst>
          </a:prstGeom>
          <a:solidFill>
            <a:srgbClr val="EE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8412480" y="2103120"/>
            <a:ext cx="548640" cy="548640"/>
          </a:xfrm>
          <a:prstGeom prst="ellipse">
            <a:avLst/>
          </a:prstGeom>
          <a:solidFill>
            <a:srgbClr val="F2A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E2761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2926080"/>
            <a:ext cx="3017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E2761"/>
                </a:solidFill>
                <a:latin typeface="Calibri"/>
              </a:rPr>
              <a:t>Balanced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3566160"/>
            <a:ext cx="301752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1F2937"/>
                </a:solidFill>
                <a:latin typeface="Calibri"/>
              </a:rPr>
              <a:t>wait_time_weight x wait + car_load_weight x passengers. Both weights are 1.0.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E2761"/>
                </a:solidFill>
                <a:latin typeface="Calibri"/>
              </a:rPr>
              <a:t>The sample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5B6478"/>
                </a:solidFill>
                <a:latin typeface="Calibri"/>
              </a:rPr>
              <a:t>One input of 100 passengers, the same for every strategy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2606040" cy="2377440"/>
          </a:xfrm>
          <a:prstGeom prst="roundRect">
            <a:avLst>
              <a:gd name="adj" fmla="val 8000"/>
            </a:avLst>
          </a:prstGeom>
          <a:solidFill>
            <a:srgbClr val="EE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2103120"/>
            <a:ext cx="26060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5400" b="1">
                <a:solidFill>
                  <a:srgbClr val="1E2761"/>
                </a:solidFill>
                <a:latin typeface="Calibri"/>
              </a:rPr>
              <a:t>100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383280"/>
            <a:ext cx="2606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passengers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828800"/>
            <a:ext cx="2606040" cy="2377440"/>
          </a:xfrm>
          <a:prstGeom prst="roundRect">
            <a:avLst>
              <a:gd name="adj" fmla="val 8000"/>
            </a:avLst>
          </a:prstGeom>
          <a:solidFill>
            <a:srgbClr val="EE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474720" y="2103120"/>
            <a:ext cx="26060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5400" b="1">
                <a:solidFill>
                  <a:srgbClr val="1E2761"/>
                </a:solidFill>
                <a:latin typeface="Calibri"/>
              </a:rPr>
              <a:t>50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3383280"/>
            <a:ext cx="2606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floors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828800"/>
            <a:ext cx="2606040" cy="2377440"/>
          </a:xfrm>
          <a:prstGeom prst="roundRect">
            <a:avLst>
              <a:gd name="adj" fmla="val 8000"/>
            </a:avLst>
          </a:prstGeom>
          <a:solidFill>
            <a:srgbClr val="EE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09360" y="2103120"/>
            <a:ext cx="26060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5400" b="1">
                <a:solidFill>
                  <a:srgbClr val="1E2761"/>
                </a:solidFill>
                <a:latin typeface="Calibri"/>
              </a:rPr>
              <a:t>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3383280"/>
            <a:ext cx="2606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cars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0" y="1828800"/>
            <a:ext cx="2606040" cy="2377440"/>
          </a:xfrm>
          <a:prstGeom prst="roundRect">
            <a:avLst>
              <a:gd name="adj" fmla="val 8000"/>
            </a:avLst>
          </a:prstGeom>
          <a:solidFill>
            <a:srgbClr val="EE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0" y="2103120"/>
            <a:ext cx="26060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5400" b="1">
                <a:solidFill>
                  <a:srgbClr val="1E2761"/>
                </a:solidFill>
                <a:latin typeface="Calibri"/>
              </a:rPr>
              <a:t>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0" y="3383280"/>
            <a:ext cx="2606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capacity per car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663440"/>
            <a:ext cx="109728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All cars start on floor 1.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Requests arrive between tick 0 and tick 291, from data/requests_big.csv.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E2761"/>
                </a:solidFill>
                <a:latin typeface="Calibri"/>
              </a:rPr>
              <a:t>Results on the 100-passenger sample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5B6478"/>
                </a:solidFill>
                <a:latin typeface="Calibri"/>
              </a:rPr>
              <a:t>Green marks the best strategy for each measure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737360"/>
          <a:ext cx="11795760" cy="3688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Measure</a:t>
                      </a:r>
                    </a:p>
                  </a:txBody>
                  <a:tcPr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ROUND_ROBIN</a:t>
                      </a:r>
                    </a:p>
                  </a:txBody>
                  <a:tcPr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NEAREST_CAR</a:t>
                      </a:r>
                    </a:p>
                  </a:txBody>
                  <a:tcPr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NEAREST_CAR_FORWARD_RUN</a:t>
                      </a:r>
                    </a:p>
                  </a:txBody>
                  <a:tcPr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NEAREST_CAR_SIMPLE</a:t>
                      </a:r>
                    </a:p>
                  </a:txBody>
                  <a:tcPr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COST_BASED</a:t>
                      </a:r>
                    </a:p>
                  </a:txBody>
                  <a:tcPr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BALANCED_STRATEGY</a:t>
                      </a:r>
                    </a:p>
                  </a:txBody>
                  <a:tcPr anchor="ctr"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Average total time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61.08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48.07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41.11</a:t>
                      </a:r>
                    </a:p>
                  </a:txBody>
                  <a:tcPr anchor="ctr">
                    <a:solidFill>
                      <a:srgbClr val="D9F2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54.83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41.32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43.45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Max total time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293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297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275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330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94</a:t>
                      </a:r>
                    </a:p>
                  </a:txBody>
                  <a:tcPr anchor="ctr">
                    <a:solidFill>
                      <a:srgbClr val="D9F2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293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Median total time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42.0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32.5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25.0</a:t>
                      </a:r>
                    </a:p>
                  </a:txBody>
                  <a:tcPr anchor="ctr">
                    <a:solidFill>
                      <a:srgbClr val="D9F2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29.0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41.0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25.5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Max wait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271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291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245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284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50</a:t>
                      </a:r>
                    </a:p>
                  </a:txBody>
                  <a:tcPr anchor="ctr">
                    <a:solidFill>
                      <a:srgbClr val="D9F2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248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95th percentile wait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164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145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92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153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44</a:t>
                      </a:r>
                    </a:p>
                  </a:txBody>
                  <a:tcPr anchor="ctr">
                    <a:solidFill>
                      <a:srgbClr val="D9F2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94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396035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Total floors travelled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2396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1861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1802</a:t>
                      </a:r>
                    </a:p>
                  </a:txBody>
                  <a:tcPr anchor="ctr">
                    <a:solidFill>
                      <a:srgbClr val="D9F2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2146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1880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1980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Passenger balance across cars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0.994</a:t>
                      </a:r>
                    </a:p>
                  </a:txBody>
                  <a:tcPr anchor="ctr">
                    <a:solidFill>
                      <a:srgbClr val="D9F2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0.894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0.980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0.972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0.899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0.970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Sample note"/>
          <p:cNvSpPr txBox="1"/>
          <p:nvPr/>
        </p:nvSpPr>
        <p:spPr>
          <a:xfrm>
            <a:off x="640080" y="6230000"/>
            <a:ext cx="10972800" cy="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595959"/>
                </a:solidFill>
                <a:latin typeface="Calibri"/>
              </a:rPr>
              <a:t>Sample: data/requests_big.csv, one run of 100 passengers. 50 floors, 6 cars, capacity 10, all cars start on floor 1 (config/elevator.properties).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E2761"/>
                </a:solidFill>
                <a:latin typeface="Calibri"/>
              </a:rPr>
              <a:t>Fairness against efficiency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5B6478"/>
                </a:solidFill>
                <a:latin typeface="Calibri"/>
              </a:rPr>
              <a:t>100 passengers. Lower and further left is better on both measures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595360" y="1737360"/>
            <a:ext cx="3200400" cy="4389120"/>
          </a:xfrm>
          <a:prstGeom prst="roundRect">
            <a:avLst>
              <a:gd name="adj" fmla="val 8000"/>
            </a:avLst>
          </a:prstGeom>
          <a:solidFill>
            <a:srgbClr val="EE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869680" y="1920240"/>
            <a:ext cx="27432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1F2937"/>
                </a:solidFill>
                <a:latin typeface="Calibri"/>
              </a:rPr>
              <a:t>Nearest Car Forward Run has the lowest median total time (25.0 ticks), with Balanced close (25.5).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F2937"/>
                </a:solidFill>
                <a:latin typeface="Calibri"/>
              </a:rPr>
              <a:t>Cost Based has the lowest 95th percentile wait (44 ticks), against 92 for Forward Run.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F2937"/>
                </a:solidFill>
                <a:latin typeface="Calibri"/>
              </a:rPr>
              <a:t>No strategy is best on both, so the choice is a trade-off.</a:t>
            </a:r>
          </a:p>
        </p:txBody>
      </p:sp>
      <p:pic>
        <p:nvPicPr>
          <p:cNvPr id="7" name="Picture 3" descr="fairness_plot_b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45920"/>
            <a:ext cx="7040000" cy="4400000"/>
          </a:xfrm>
          <a:prstGeom prst="rect">
            <a:avLst/>
          </a:prstGeom>
        </p:spPr>
      </p:pic>
      <p:sp>
        <p:nvSpPr>
          <p:cNvPr id="8" name="Sample note"/>
          <p:cNvSpPr txBox="1"/>
          <p:nvPr/>
        </p:nvSpPr>
        <p:spPr>
          <a:xfrm>
            <a:off x="640080" y="6230000"/>
            <a:ext cx="10972800" cy="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595959"/>
                </a:solidFill>
                <a:latin typeface="Calibri"/>
              </a:rPr>
              <a:t>Sample: data/requests_big.csv, one run of 100 passengers. 50 floors, 6 cars, capacity 10 (config/elevator.properties).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E2761"/>
                </a:solidFill>
                <a:latin typeface="Calibri"/>
              </a:rPr>
              <a:t>What the 100-passenger sample shows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828800"/>
            <a:ext cx="3520440" cy="3840480"/>
          </a:xfrm>
          <a:prstGeom prst="roundRect">
            <a:avLst>
              <a:gd name="adj" fmla="val 8000"/>
            </a:avLst>
          </a:prstGeom>
          <a:solidFill>
            <a:srgbClr val="EE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3017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1E2761"/>
                </a:solidFill>
                <a:latin typeface="Calibri"/>
              </a:rPr>
              <a:t>Efficiency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34640"/>
            <a:ext cx="301752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Nearest Car Forward Run has the lowest median total time, 25.0 ticks.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828800"/>
            <a:ext cx="3520440" cy="3840480"/>
          </a:xfrm>
          <a:prstGeom prst="roundRect">
            <a:avLst>
              <a:gd name="adj" fmla="val 8000"/>
            </a:avLst>
          </a:prstGeom>
          <a:solidFill>
            <a:srgbClr val="EE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663440" y="2103120"/>
            <a:ext cx="3017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1E2761"/>
                </a:solidFill>
                <a:latin typeface="Calibri"/>
              </a:rPr>
              <a:t>Fairness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2834640"/>
            <a:ext cx="301752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Cost Based has the lowest 95th percentile wait, 44 ticks.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59" y="1828800"/>
            <a:ext cx="3520440" cy="3840480"/>
          </a:xfrm>
          <a:prstGeom prst="roundRect">
            <a:avLst>
              <a:gd name="adj" fmla="val 8000"/>
            </a:avLst>
          </a:prstGeom>
          <a:solidFill>
            <a:srgbClr val="EE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80" y="2103120"/>
            <a:ext cx="3017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1E2761"/>
                </a:solidFill>
                <a:latin typeface="Calibri"/>
              </a:rPr>
              <a:t>Even spread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2834640"/>
            <a:ext cx="301752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Round Robin spreads passengers most evenly across cars (passenger balance 0.99).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E2761"/>
                </a:solidFill>
                <a:latin typeface="Calibri"/>
              </a:rPr>
              <a:t>Scenarios: which strategy wins where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1F2937"/>
                </a:solidFill>
                <a:latin typeface="Calibri"/>
              </a:rPr>
              <a:t>Averages over generated traffic (rush hour: 100 files per direction; others: 20 files)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828800"/>
          <a:ext cx="10972800" cy="208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00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Scenario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Best average wait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Best longest wait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Fewest floors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Most balanced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</a:rPr>
                        <a:t>Rush hour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</a:rPr>
                        <a:t>Cost Based (6.9)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</a:rPr>
                        <a:t>Cost Based (19)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</a:rPr>
                        <a:t>Cost Based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</a:rPr>
                        <a:t>Round Robin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</a:rPr>
                        <a:t>Uniform traffic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</a:rPr>
                        <a:t>Nearest Car Forward Run (4.1)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</a:rPr>
                        <a:t>Cost Based (10)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</a:rPr>
                        <a:t>Nearest Car Forward Run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</a:rPr>
                        <a:t>Round Robin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</a:rPr>
                        <a:t>Sparse traffic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</a:rPr>
                        <a:t>Balanced (2.66), just ahead of Nearest Car Forward Run (2.71)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</a:rPr>
                        <a:t>Cost Based (7)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</a:rPr>
                        <a:t>Nearest Car Forward Run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</a:rPr>
                        <a:t>Round Robin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</a:rPr>
                        <a:t>Large building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</a:rPr>
                        <a:t>Nearest Car Forward Run (25.3)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</a:rPr>
                        <a:t>Cost Based (66)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</a:rPr>
                        <a:t>Cost Based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</a:rPr>
                        <a:t>Round Robin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ample note"/>
          <p:cNvSpPr txBox="1"/>
          <p:nvPr/>
        </p:nvSpPr>
        <p:spPr>
          <a:xfrm>
            <a:off x="640080" y="6230000"/>
            <a:ext cx="10972800" cy="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595959"/>
                </a:solidFill>
                <a:latin typeface="Calibri"/>
              </a:rPr>
              <a:t>Samples: generated traffic, averaged over files. Morning and evening rush: 100 files, 30 passengers, 10 floors, 3 cars, capacity 4. Uniform: 20 files, 30 passengers, same building. Sparse: 20 files, 10 passengers. Large building: 20 files, 100 passengers, 50 floors, 6 cars, capacity 8.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E2761"/>
                </a:solidFill>
                <a:latin typeface="Calibri"/>
              </a:rPr>
              <a:t>Efficiency and fairness across scenarios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1F2937"/>
                </a:solidFill>
                <a:latin typeface="Calibri"/>
              </a:rPr>
              <a:t>Efficiency is the median total time. Fairness is the 95th percentile wait. Averages over generated traffic.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828800"/>
          <a:ext cx="1097280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00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Scenario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Efficiency: lowest median total time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Fairness: lowest 95th percentile wait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Trade-off?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Note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</a:rPr>
                        <a:t>Rush hour (100 files per direction, 30 passengers)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</a:rPr>
                        <a:t>Nearest Car Forward Run (8.8)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</a:rPr>
                        <a:t>Cost Based (17.4)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</a:rP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</a:rPr>
                        <a:t>Average of morning and evening rush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</a:rPr>
                        <a:t>Uniform traffic (20 files, 30 passengers)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</a:rPr>
                        <a:t>Nearest Car Forward Run (6.6)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</a:rPr>
                        <a:t>Cost Based (9.6)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</a:rP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</a:rPr>
                        <a:t>Balanced is close on the median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</a:rPr>
                        <a:t>Sparse traffic (20 files, 10 passengers)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</a:rPr>
                        <a:t>Nearest Car Forward Run (5.8)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</a:rPr>
                        <a:t>Cost Based (7.3)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</a:rP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</a:rPr>
                        <a:t>10 passengers, so the 95th percentile is the maximum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</a:rPr>
                        <a:t>Large building (20 files, 100 passengers)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</a:rPr>
                        <a:t>Nearest Car Forward Run (30.6)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</a:rPr>
                        <a:t>Cost Based (53.8)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</a:rP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</a:rPr>
                        <a:t>Cost Based 54 against 102 for Forward Run (95th percentile)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ample note"/>
          <p:cNvSpPr txBox="1"/>
          <p:nvPr/>
        </p:nvSpPr>
        <p:spPr>
          <a:xfrm>
            <a:off x="640080" y="6230000"/>
            <a:ext cx="10972800" cy="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595959"/>
                </a:solidFill>
                <a:latin typeface="Calibri"/>
              </a:rPr>
              <a:t>Same generated scenarios as slide 21, averaged over files. Rush hour is the average of morning and evening rush.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E2761"/>
                </a:solidFill>
                <a:latin typeface="Calibri"/>
              </a:rPr>
              <a:t>Longest wait: Cost Based is lowest in every scenario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1F2937"/>
                </a:solidFill>
                <a:latin typeface="Calibri"/>
              </a:rPr>
              <a:t>Mean of the longest wait in each run, in ticks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640080" y="1737360"/>
          <a:ext cx="109728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E2761"/>
                </a:solidFill>
                <a:latin typeface="Calibri"/>
              </a:rPr>
              <a:t>Conclusion: best and worst, by term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645920"/>
          <a:ext cx="10972800" cy="42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00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Term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Best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Worst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937"/>
                          </a:solidFill>
                        </a:rPr>
                        <a:t>Average wait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937"/>
                          </a:solidFill>
                        </a:rPr>
                        <a:t>Cost Based in rush hour; Nearest Car Forward Run in uniform traffic and the large building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937"/>
                          </a:solidFill>
                        </a:rPr>
                        <a:t>Round Robin in most scenarios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937"/>
                          </a:solidFill>
                        </a:rPr>
                        <a:t>Longest wait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937"/>
                          </a:solidFill>
                        </a:rPr>
                        <a:t>Cost Based in every scenario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937"/>
                          </a:solidFill>
                        </a:rPr>
                        <a:t>Nearest Car Simple in rush hour; Round Robin in the large building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937"/>
                          </a:solidFill>
                        </a:rPr>
                        <a:t>Energy (floors)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937"/>
                          </a:solidFill>
                        </a:rPr>
                        <a:t>Cost Based in rush hour and the large building; Forward Run in uniform and sparse traffic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937"/>
                          </a:solidFill>
                        </a:rPr>
                        <a:t>Round Robin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937"/>
                          </a:solidFill>
                        </a:rPr>
                        <a:t>Passenger balance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937"/>
                          </a:solidFill>
                        </a:rPr>
                        <a:t>Round Robin in every scenario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937"/>
                          </a:solidFill>
                        </a:rPr>
                        <a:t>Nearest Car in sparse traffic; Cost Based in the large building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937"/>
                          </a:solidFill>
                        </a:rPr>
                        <a:t>Efficiency (median total time)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937"/>
                          </a:solidFill>
                        </a:rPr>
                        <a:t>Nearest Car Forward Run in every scenario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937"/>
                          </a:solidFill>
                        </a:rPr>
                        <a:t>Round Robin in every scenario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937"/>
                          </a:solidFill>
                        </a:rPr>
                        <a:t>Fairness (95th percentile wait)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937"/>
                          </a:solidFill>
                        </a:rPr>
                        <a:t>Cost Based in every scenario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937"/>
                          </a:solidFill>
                        </a:rPr>
                        <a:t>Nearest Car Simple in rush hour and the large building; Round Robin in uniform traffic; Nearest Car in sparse traffic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1337711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937"/>
                          </a:solidFill>
                        </a:rPr>
                        <a:t>Simplicity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937"/>
                          </a:solidFill>
                        </a:rPr>
                        <a:t>Nearest Car Simple (the baseline)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937"/>
                          </a:solidFill>
                        </a:rPr>
                        <a:t>Its waits and energy are the poorest of the non-trivial options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49388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E2761"/>
                </a:solidFill>
                <a:latin typeface="Calibri"/>
              </a:rPr>
              <a:t>What we would improve next</a:t>
            </a:r>
          </a:p>
        </p:txBody>
      </p:sp>
      <p:sp>
        <p:nvSpPr>
          <p:cNvPr id="3" name="Oval 2"/>
          <p:cNvSpPr/>
          <p:nvPr/>
        </p:nvSpPr>
        <p:spPr>
          <a:xfrm>
            <a:off x="822960" y="1828800"/>
            <a:ext cx="548640" cy="5486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1874519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1F2937"/>
                </a:solidFill>
                <a:latin typeface="Calibri"/>
              </a:rPr>
              <a:t>Test the trade-off on more request files, and on cars of different capacities.</a:t>
            </a:r>
          </a:p>
        </p:txBody>
      </p:sp>
      <p:sp>
        <p:nvSpPr>
          <p:cNvPr id="5" name="Oval 4"/>
          <p:cNvSpPr/>
          <p:nvPr/>
        </p:nvSpPr>
        <p:spPr>
          <a:xfrm>
            <a:off x="822960" y="2834640"/>
            <a:ext cx="548640" cy="5486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288036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1F2937"/>
                </a:solidFill>
                <a:latin typeface="Calibri"/>
              </a:rPr>
              <a:t>Use peak-mode parking across a group of floors, not one floor.</a:t>
            </a:r>
          </a:p>
        </p:txBody>
      </p:sp>
      <p:sp>
        <p:nvSpPr>
          <p:cNvPr id="7" name="Oval 6"/>
          <p:cNvSpPr/>
          <p:nvPr/>
        </p:nvSpPr>
        <p:spPr>
          <a:xfrm>
            <a:off x="822960" y="3840480"/>
            <a:ext cx="548640" cy="5486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388620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1F2937"/>
                </a:solidFill>
                <a:latin typeface="Calibri"/>
              </a:rPr>
              <a:t>Make the Balanced weights settings, and add an energy-saving strategy.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E2761"/>
                </a:solidFill>
                <a:latin typeface="Calibri"/>
              </a:rPr>
              <a:t>Appendix: Morning rush: 100 files of 30 passengers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5B6478"/>
                </a:solidFill>
                <a:latin typeface="Calibri"/>
              </a:rPr>
              <a:t>Means over the files. Green marks the best strategy for each measure.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737360"/>
          <a:ext cx="11795760" cy="3688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Measure</a:t>
                      </a:r>
                    </a:p>
                  </a:txBody>
                  <a:tcPr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ROUND_ROBIN</a:t>
                      </a:r>
                    </a:p>
                  </a:txBody>
                  <a:tcPr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NEAREST_CAR</a:t>
                      </a:r>
                    </a:p>
                  </a:txBody>
                  <a:tcPr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NEAREST_CAR_FORWARD_RUN</a:t>
                      </a:r>
                    </a:p>
                  </a:txBody>
                  <a:tcPr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NEAREST_CAR_SIMPLE</a:t>
                      </a:r>
                    </a:p>
                  </a:txBody>
                  <a:tcPr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COST_BASED</a:t>
                      </a:r>
                    </a:p>
                  </a:txBody>
                  <a:tcPr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BALANCED_STRATEGY</a:t>
                      </a:r>
                    </a:p>
                  </a:txBody>
                  <a:tcPr anchor="ctr"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Average wait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8.32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6.52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5.94</a:t>
                      </a:r>
                    </a:p>
                  </a:txBody>
                  <a:tcPr anchor="ctr">
                    <a:solidFill>
                      <a:srgbClr val="D9F2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8.37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6.04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6.61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Max wait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24.3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21.1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18.3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29.0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14.7</a:t>
                      </a:r>
                    </a:p>
                  </a:txBody>
                  <a:tcPr anchor="ctr">
                    <a:solidFill>
                      <a:srgbClr val="D9F2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20.0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Median total time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11.86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9.95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9.54</a:t>
                      </a:r>
                    </a:p>
                  </a:txBody>
                  <a:tcPr anchor="ctr">
                    <a:solidFill>
                      <a:srgbClr val="D9F2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10.47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10.24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10.32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95th percentile wait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21.3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18.3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16.4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24.6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13.6</a:t>
                      </a:r>
                    </a:p>
                  </a:txBody>
                  <a:tcPr anchor="ctr">
                    <a:solidFill>
                      <a:srgbClr val="D9F2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17.6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Average total time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12.84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11.04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10.45</a:t>
                      </a:r>
                    </a:p>
                  </a:txBody>
                  <a:tcPr anchor="ctr">
                    <a:solidFill>
                      <a:srgbClr val="D9F2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12.88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10.55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11.12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396035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Total floors travelled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147.8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141.1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132.6</a:t>
                      </a:r>
                    </a:p>
                  </a:txBody>
                  <a:tcPr anchor="ctr">
                    <a:solidFill>
                      <a:srgbClr val="D9F2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149.7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135.3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138.5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Passenger balance across cars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0.987</a:t>
                      </a:r>
                    </a:p>
                  </a:txBody>
                  <a:tcPr anchor="ctr">
                    <a:solidFill>
                      <a:srgbClr val="D9F2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0.974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0.966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0.929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0.969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0.978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Sample note"/>
          <p:cNvSpPr txBox="1"/>
          <p:nvPr/>
        </p:nvSpPr>
        <p:spPr>
          <a:xfrm>
            <a:off x="640080" y="6230000"/>
            <a:ext cx="10972800" cy="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595959"/>
                </a:solidFill>
                <a:latin typeface="Calibri"/>
              </a:rPr>
              <a:t>Sample: generated morning rush, 100 files, 30 passengers each. 10 floors, 3 cars, capacity 4. Empty cars wait on floor 1.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E2761"/>
                </a:solidFill>
                <a:latin typeface="Calibri"/>
              </a:rPr>
              <a:t>Appendix: Evening rush: 100 files of 30 passengers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5B6478"/>
                </a:solidFill>
                <a:latin typeface="Calibri"/>
              </a:rPr>
              <a:t>Means over the files. Green marks the best strategy for each measure.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737360"/>
          <a:ext cx="11795760" cy="3688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Measure</a:t>
                      </a:r>
                    </a:p>
                  </a:txBody>
                  <a:tcPr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ROUND_ROBIN</a:t>
                      </a:r>
                    </a:p>
                  </a:txBody>
                  <a:tcPr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NEAREST_CAR</a:t>
                      </a:r>
                    </a:p>
                  </a:txBody>
                  <a:tcPr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NEAREST_CAR_FORWARD_RUN</a:t>
                      </a:r>
                    </a:p>
                  </a:txBody>
                  <a:tcPr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NEAREST_CAR_SIMPLE</a:t>
                      </a:r>
                    </a:p>
                  </a:txBody>
                  <a:tcPr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COST_BASED</a:t>
                      </a:r>
                    </a:p>
                  </a:txBody>
                  <a:tcPr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BALANCED_STRATEGY</a:t>
                      </a:r>
                    </a:p>
                  </a:txBody>
                  <a:tcPr anchor="ctr"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Average wait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13.94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14.53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10.96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12.53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7.69</a:t>
                      </a:r>
                    </a:p>
                  </a:txBody>
                  <a:tcPr anchor="ctr">
                    <a:solidFill>
                      <a:srgbClr val="D9F2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11.28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Max wait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54.6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57.5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52.7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56.2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24.1</a:t>
                      </a:r>
                    </a:p>
                  </a:txBody>
                  <a:tcPr anchor="ctr">
                    <a:solidFill>
                      <a:srgbClr val="D9F2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50.9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Median total time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11.10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11.19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8.14</a:t>
                      </a:r>
                    </a:p>
                  </a:txBody>
                  <a:tcPr anchor="ctr">
                    <a:solidFill>
                      <a:srgbClr val="D9F2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9.27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9.93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8.43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95th percentile wait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46.5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48.1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43.9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47.2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21.2</a:t>
                      </a:r>
                    </a:p>
                  </a:txBody>
                  <a:tcPr anchor="ctr">
                    <a:solidFill>
                      <a:srgbClr val="D9F2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43.2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Average total time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18.48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19.07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15.49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17.07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12.22</a:t>
                      </a:r>
                    </a:p>
                  </a:txBody>
                  <a:tcPr anchor="ctr">
                    <a:solidFill>
                      <a:srgbClr val="D9F2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15.81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396035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Total floors travelled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204.8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203.8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182.1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189.4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154.8</a:t>
                      </a:r>
                    </a:p>
                  </a:txBody>
                  <a:tcPr anchor="ctr">
                    <a:solidFill>
                      <a:srgbClr val="D9F2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186.3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Passenger balance across cars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0.985</a:t>
                      </a:r>
                    </a:p>
                  </a:txBody>
                  <a:tcPr anchor="ctr">
                    <a:solidFill>
                      <a:srgbClr val="D9F2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0.970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0.962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0.938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0.954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0.980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Sample note"/>
          <p:cNvSpPr txBox="1"/>
          <p:nvPr/>
        </p:nvSpPr>
        <p:spPr>
          <a:xfrm>
            <a:off x="640080" y="6230000"/>
            <a:ext cx="10972800" cy="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595959"/>
                </a:solidFill>
                <a:latin typeface="Calibri"/>
              </a:rPr>
              <a:t>Sample: generated evening rush, 100 files, 30 passengers each. 10 floors, 3 cars, capacity 4. Empty cars wait on parking floors 10, 6 and 3.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E2761"/>
                </a:solidFill>
                <a:latin typeface="Calibri"/>
              </a:rPr>
              <a:t>Appendix: Uniform traffic: 20 files of 30 passengers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5B6478"/>
                </a:solidFill>
                <a:latin typeface="Calibri"/>
              </a:rPr>
              <a:t>Means over the files. Green marks the best strategy for each measure.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737360"/>
          <a:ext cx="11795760" cy="3688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Measure</a:t>
                      </a:r>
                    </a:p>
                  </a:txBody>
                  <a:tcPr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ROUND_ROBIN</a:t>
                      </a:r>
                    </a:p>
                  </a:txBody>
                  <a:tcPr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NEAREST_CAR</a:t>
                      </a:r>
                    </a:p>
                  </a:txBody>
                  <a:tcPr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NEAREST_CAR_FORWARD_RUN</a:t>
                      </a:r>
                    </a:p>
                  </a:txBody>
                  <a:tcPr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NEAREST_CAR_SIMPLE</a:t>
                      </a:r>
                    </a:p>
                  </a:txBody>
                  <a:tcPr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COST_BASED</a:t>
                      </a:r>
                    </a:p>
                  </a:txBody>
                  <a:tcPr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BALANCED_STRATEGY</a:t>
                      </a:r>
                    </a:p>
                  </a:txBody>
                  <a:tcPr anchor="ctr"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Average wait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7.48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5.70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4.08</a:t>
                      </a:r>
                    </a:p>
                  </a:txBody>
                  <a:tcPr anchor="ctr">
                    <a:solidFill>
                      <a:srgbClr val="D9F2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5.58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4.64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4.54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Max wait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28.4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22.2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18.8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21.3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10.3</a:t>
                      </a:r>
                    </a:p>
                  </a:txBody>
                  <a:tcPr anchor="ctr">
                    <a:solidFill>
                      <a:srgbClr val="D9F2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21.3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Median total time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9.18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7.90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6.62</a:t>
                      </a:r>
                    </a:p>
                  </a:txBody>
                  <a:tcPr anchor="ctr">
                    <a:solidFill>
                      <a:srgbClr val="D9F2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7.80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8.15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6.80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95th percentile wait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22.6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19.6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14.6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18.2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9.6</a:t>
                      </a:r>
                    </a:p>
                  </a:txBody>
                  <a:tcPr anchor="ctr">
                    <a:solidFill>
                      <a:srgbClr val="D9F2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16.6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Average total time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11.21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9.43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7.82</a:t>
                      </a:r>
                    </a:p>
                  </a:txBody>
                  <a:tcPr anchor="ctr">
                    <a:solidFill>
                      <a:srgbClr val="D9F2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9.31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8.37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8.27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396035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Total floors travelled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134.5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117.5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104.5</a:t>
                      </a:r>
                    </a:p>
                  </a:txBody>
                  <a:tcPr anchor="ctr">
                    <a:solidFill>
                      <a:srgbClr val="D9F2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115.5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113.2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113.7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Passenger balance across cars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0.987</a:t>
                      </a:r>
                    </a:p>
                  </a:txBody>
                  <a:tcPr anchor="ctr">
                    <a:solidFill>
                      <a:srgbClr val="D9F2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0.977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0.937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0.955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0.950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0.960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Sample note"/>
          <p:cNvSpPr txBox="1"/>
          <p:nvPr/>
        </p:nvSpPr>
        <p:spPr>
          <a:xfrm>
            <a:off x="640080" y="6230000"/>
            <a:ext cx="10972800" cy="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595959"/>
                </a:solidFill>
                <a:latin typeface="Calibri"/>
              </a:rPr>
              <a:t>Sample: generated uniform traffic, 20 files, 30 passengers each. 10 floors, 3 cars, capacity 4.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E2761"/>
                </a:solidFill>
                <a:latin typeface="Calibri"/>
              </a:rPr>
              <a:t>Appendix: Sparse traffic: 20 files of 10 passengers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5B6478"/>
                </a:solidFill>
                <a:latin typeface="Calibri"/>
              </a:rPr>
              <a:t>Means over the files. Green marks the best strategy for each measure.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737360"/>
          <a:ext cx="11795760" cy="3688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Measure</a:t>
                      </a:r>
                    </a:p>
                  </a:txBody>
                  <a:tcPr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ROUND_ROBIN</a:t>
                      </a:r>
                    </a:p>
                  </a:txBody>
                  <a:tcPr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NEAREST_CAR</a:t>
                      </a:r>
                    </a:p>
                  </a:txBody>
                  <a:tcPr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NEAREST_CAR_FORWARD_RUN</a:t>
                      </a:r>
                    </a:p>
                  </a:txBody>
                  <a:tcPr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NEAREST_CAR_SIMPLE</a:t>
                      </a:r>
                    </a:p>
                  </a:txBody>
                  <a:tcPr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COST_BASED</a:t>
                      </a:r>
                    </a:p>
                  </a:txBody>
                  <a:tcPr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BALANCED_STRATEGY</a:t>
                      </a:r>
                    </a:p>
                  </a:txBody>
                  <a:tcPr anchor="ctr"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Average wait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3.95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3.10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2.71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3.09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2.88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2.66</a:t>
                      </a:r>
                    </a:p>
                  </a:txBody>
                  <a:tcPr anchor="ctr">
                    <a:solidFill>
                      <a:srgbClr val="D9F2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Max wait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8.3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10.6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8.9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8.4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7.3</a:t>
                      </a:r>
                    </a:p>
                  </a:txBody>
                  <a:tcPr anchor="ctr">
                    <a:solidFill>
                      <a:srgbClr val="D9F2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8.6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Median total time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7.12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6.05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5.78</a:t>
                      </a:r>
                    </a:p>
                  </a:txBody>
                  <a:tcPr anchor="ctr">
                    <a:solidFill>
                      <a:srgbClr val="D9F2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6.12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6.17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5.83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95th percentile wait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8.3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10.6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8.9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8.4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7.3</a:t>
                      </a:r>
                    </a:p>
                  </a:txBody>
                  <a:tcPr anchor="ctr">
                    <a:solidFill>
                      <a:srgbClr val="D9F2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8.6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Average total time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7.61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6.76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6.38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6.75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6.54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6.32</a:t>
                      </a:r>
                    </a:p>
                  </a:txBody>
                  <a:tcPr anchor="ctr">
                    <a:solidFill>
                      <a:srgbClr val="D9F2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396035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Total floors travelled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68.8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49.5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48.8</a:t>
                      </a:r>
                    </a:p>
                  </a:txBody>
                  <a:tcPr anchor="ctr">
                    <a:solidFill>
                      <a:srgbClr val="D9F2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58.5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57.3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51.9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Passenger balance across cars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0.973</a:t>
                      </a:r>
                    </a:p>
                  </a:txBody>
                  <a:tcPr anchor="ctr">
                    <a:solidFill>
                      <a:srgbClr val="D9F2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0.759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0.774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0.910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0.890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0.864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Sample note"/>
          <p:cNvSpPr txBox="1"/>
          <p:nvPr/>
        </p:nvSpPr>
        <p:spPr>
          <a:xfrm>
            <a:off x="640080" y="6230000"/>
            <a:ext cx="10972800" cy="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595959"/>
                </a:solidFill>
                <a:latin typeface="Calibri"/>
              </a:rPr>
              <a:t>Sample: generated sparse traffic, 20 files, 10 passengers each. 10 floors, 3 cars, capacity 4. With 10 passengers the 95th percentile equals the maximum.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E2761"/>
                </a:solidFill>
                <a:latin typeface="Calibri"/>
              </a:rPr>
              <a:t>Appendix: Large building: 20 files of 100 passengers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5B6478"/>
                </a:solidFill>
                <a:latin typeface="Calibri"/>
              </a:rPr>
              <a:t>Means over the files. Green marks the best strategy for each measure.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737360"/>
          <a:ext cx="11795760" cy="3688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Measure</a:t>
                      </a:r>
                    </a:p>
                  </a:txBody>
                  <a:tcPr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ROUND_ROBIN</a:t>
                      </a:r>
                    </a:p>
                  </a:txBody>
                  <a:tcPr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NEAREST_CAR</a:t>
                      </a:r>
                    </a:p>
                  </a:txBody>
                  <a:tcPr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NEAREST_CAR_FORWARD_RUN</a:t>
                      </a:r>
                    </a:p>
                  </a:txBody>
                  <a:tcPr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NEAREST_CAR_SIMPLE</a:t>
                      </a:r>
                    </a:p>
                  </a:txBody>
                  <a:tcPr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COST_BASED</a:t>
                      </a:r>
                    </a:p>
                  </a:txBody>
                  <a:tcPr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BALANCED_STRATEGY</a:t>
                      </a:r>
                    </a:p>
                  </a:txBody>
                  <a:tcPr anchor="ctr"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Average wait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47.78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36.79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25.33</a:t>
                      </a:r>
                    </a:p>
                  </a:txBody>
                  <a:tcPr anchor="ctr">
                    <a:solidFill>
                      <a:srgbClr val="D9F2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38.59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29.75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25.76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Max wait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236.8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168.6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174.6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229.2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66.2</a:t>
                      </a:r>
                    </a:p>
                  </a:txBody>
                  <a:tcPr anchor="ctr">
                    <a:solidFill>
                      <a:srgbClr val="D9F2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169.2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Median total time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51.65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44.88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30.62</a:t>
                      </a:r>
                    </a:p>
                  </a:txBody>
                  <a:tcPr anchor="ctr">
                    <a:solidFill>
                      <a:srgbClr val="D9F2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39.50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45.12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31.43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95th percentile wait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133.2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104.0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102.0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135.8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53.8</a:t>
                      </a:r>
                    </a:p>
                  </a:txBody>
                  <a:tcPr anchor="ctr">
                    <a:solidFill>
                      <a:srgbClr val="D9F2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100.6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Average total time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64.09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53.10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41.65</a:t>
                      </a:r>
                    </a:p>
                  </a:txBody>
                  <a:tcPr anchor="ctr">
                    <a:solidFill>
                      <a:srgbClr val="D9F2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54.91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46.06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42.08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396035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Total floors travelled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1305.3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1026.0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952.6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1182.9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909.1</a:t>
                      </a:r>
                    </a:p>
                  </a:txBody>
                  <a:tcPr anchor="ctr">
                    <a:solidFill>
                      <a:srgbClr val="D9F2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988.2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Passenger balance across cars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0.984</a:t>
                      </a:r>
                    </a:p>
                  </a:txBody>
                  <a:tcPr anchor="ctr">
                    <a:solidFill>
                      <a:srgbClr val="D9F2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0.970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0.888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0.883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0.792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0.917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Sample note"/>
          <p:cNvSpPr txBox="1"/>
          <p:nvPr/>
        </p:nvSpPr>
        <p:spPr>
          <a:xfrm>
            <a:off x="640080" y="6230000"/>
            <a:ext cx="10972800" cy="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595959"/>
                </a:solidFill>
                <a:latin typeface="Calibri"/>
              </a:rPr>
              <a:t>Sample: generated large building, 20 files, 100 passengers each. 50 floors, 6 cars, capacity 8.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3044</Words>
  <Application>Microsoft Office PowerPoint</Application>
  <PresentationFormat>Widescreen</PresentationFormat>
  <Paragraphs>658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Yashraj Arora</cp:lastModifiedBy>
  <cp:revision>7</cp:revision>
  <dcterms:created xsi:type="dcterms:W3CDTF">2013-01-27T09:14:16Z</dcterms:created>
  <dcterms:modified xsi:type="dcterms:W3CDTF">2026-10-14T13:18:23Z</dcterms:modified>
  <cp:category/>
</cp:coreProperties>
</file>