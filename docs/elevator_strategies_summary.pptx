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8" r:id="rId5"/>
    <p:sldId id="277" r:id="rId6"/>
    <p:sldId id="259" r:id="rId7"/>
    <p:sldId id="260" r:id="rId8"/>
    <p:sldId id="261" r:id="rId9"/>
    <p:sldId id="271" r:id="rId10"/>
    <p:sldId id="273" r:id="rId11"/>
    <p:sldId id="272" r:id="rId12"/>
    <p:sldId id="275" r:id="rId13"/>
    <p:sldId id="276" r:id="rId14"/>
    <p:sldId id="274" r:id="rId15"/>
    <p:sldId id="262" r:id="rId16"/>
    <p:sldId id="263" r:id="rId17"/>
    <p:sldId id="264" r:id="rId18"/>
    <p:sldId id="265" r:id="rId19"/>
    <p:sldId id="266" r:id="rId20"/>
    <p:sldId id="267" r:id="rId21"/>
    <p:sldId id="279" r:id="rId22"/>
    <p:sldId id="280" r:id="rId23"/>
    <p:sldId id="28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7" d="100"/>
          <a:sy n="117" d="100"/>
        </p:scale>
        <p:origin x="31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Round Robin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39.5</c:v>
                </c:pt>
                <c:pt idx="1">
                  <c:v>28.4</c:v>
                </c:pt>
                <c:pt idx="2">
                  <c:v>8.3000000000000007</c:v>
                </c:pt>
                <c:pt idx="3">
                  <c:v>236.8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51-44A5-95B5-1FB77EEA7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Nearest Car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43.4</c:v>
                </c:pt>
                <c:pt idx="1">
                  <c:v>20.9</c:v>
                </c:pt>
                <c:pt idx="2">
                  <c:v>8.1</c:v>
                </c:pt>
                <c:pt idx="3">
                  <c:v>206.7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51-44A5-95B5-1FB77EEA7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Nearest Car Simple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42.6</c:v>
                </c:pt>
                <c:pt idx="1">
                  <c:v>21.3</c:v>
                </c:pt>
                <c:pt idx="2">
                  <c:v>8.4</c:v>
                </c:pt>
                <c:pt idx="3">
                  <c:v>229.2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51-44A5-95B5-1FB77EEA7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Nearest Car Forward Run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35.5</c:v>
                </c:pt>
                <c:pt idx="1">
                  <c:v>18.8</c:v>
                </c:pt>
                <c:pt idx="2">
                  <c:v>8.9</c:v>
                </c:pt>
                <c:pt idx="3">
                  <c:v>174.6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451-44A5-95B5-1FB77EEA7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Cost Based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19.399999999999999</c:v>
                </c:pt>
                <c:pt idx="1">
                  <c:v>10.3</c:v>
                </c:pt>
                <c:pt idx="2">
                  <c:v>7.3</c:v>
                </c:pt>
                <c:pt idx="3">
                  <c:v>66.2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451-44A5-95B5-1FB77EEA7D2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Balanced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35.5</c:v>
                </c:pt>
                <c:pt idx="1">
                  <c:v>21.3</c:v>
                </c:pt>
                <c:pt idx="2">
                  <c:v>8.6</c:v>
                </c:pt>
                <c:pt idx="3">
                  <c:v>169.2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451-44A5-95B5-1FB77EEA7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Elevator dispatch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How we approached the requirements, and what the strategies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kkr-simulator-py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Four steps, each checked before the next one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6868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74720"/>
            <a:ext cx="2194560" cy="17235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1F2937"/>
                </a:solidFill>
                <a:latin typeface="Calibri"/>
              </a:rPr>
              <a:t>Read the rules that decide </a:t>
            </a:r>
            <a:r>
              <a:rPr sz="1600" b="0" dirty="0" err="1">
                <a:solidFill>
                  <a:srgbClr val="1F2937"/>
                </a:solidFill>
                <a:latin typeface="Calibri"/>
              </a:rPr>
              <a:t>behaviour</a:t>
            </a:r>
            <a:r>
              <a:rPr sz="1600" b="0" dirty="0">
                <a:solidFill>
                  <a:srgbClr val="1F2937"/>
                </a:solidFill>
                <a:latin typeface="Calibri"/>
              </a:rPr>
              <a:t>: direction, capacity, no look-ahead.</a:t>
            </a:r>
            <a:endParaRPr lang="en-US" sz="1600" b="0" dirty="0">
              <a:solidFill>
                <a:srgbClr val="1F2937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endParaRPr lang="en-US" sz="1600" dirty="0">
              <a:solidFill>
                <a:srgbClr val="1F2937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lang="en-US" sz="1200" i="1" dirty="0">
                <a:solidFill>
                  <a:srgbClr val="1F2937"/>
                </a:solidFill>
                <a:latin typeface="Calibri"/>
              </a:rPr>
              <a:t>Refer: Requirements.md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70332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80360"/>
            <a:ext cx="219456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000" b="1" dirty="0">
                <a:solidFill>
                  <a:srgbClr val="1E2761"/>
                </a:solidFill>
                <a:latin typeface="Calibri"/>
              </a:rPr>
              <a:t>Entities and </a:t>
            </a:r>
            <a:r>
              <a:rPr sz="2000" b="1" dirty="0">
                <a:solidFill>
                  <a:srgbClr val="1E2761"/>
                </a:solidFill>
                <a:latin typeface="Calibri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474720"/>
            <a:ext cx="2194560" cy="16466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600" b="0" dirty="0">
                <a:solidFill>
                  <a:srgbClr val="1F2937"/>
                </a:solidFill>
                <a:latin typeface="Calibri"/>
              </a:rPr>
              <a:t>Decide on Entities for the system </a:t>
            </a: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1F2937"/>
                </a:solidFill>
                <a:latin typeface="Calibri"/>
              </a:rPr>
              <a:t>Layers with one class per strategy, so a new strategy needs no simulator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3796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8803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Build and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2194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Car and tick first, then each strategy with its own tests.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37260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28803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Compare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474720"/>
            <a:ext cx="2194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Same inputs for every strategy: waits, total times, and fairness across cars.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Four rules the design is built around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1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19" y="2468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A passenger boards only when the car is going their way. Riders share one direction.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3795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59" y="2468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Riders never exceed a car's capacity. A full car can be given a trip, and the passenger waits for a seat.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19" y="416052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No look-ahead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4754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A decision at a tick uses only requests made by that tick.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416052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Express cars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4754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An express car never stops outside its served set. Floor 1 is always 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Two kinds of requirement: what it does and how well</a:t>
            </a:r>
          </a:p>
        </p:txBody>
      </p:sp>
      <p:sp>
        <p:nvSpPr>
          <p:cNvPr id="3" name="TextBox 4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Both are listed in docs/requirements.md, and the tests check them</a:t>
            </a:r>
          </a:p>
        </p:txBody>
      </p:sp>
      <p:sp>
        <p:nvSpPr>
          <p:cNvPr id="4" name="Rounded Rectangle 2"/>
          <p:cNvSpPr/>
          <p:nvPr/>
        </p:nvSpPr>
        <p:spPr>
          <a:xfrm>
            <a:off x="640080" y="1645920"/>
            <a:ext cx="5303520" cy="4206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3"/>
          <p:cNvSpPr txBox="1"/>
          <p:nvPr/>
        </p:nvSpPr>
        <p:spPr>
          <a:xfrm>
            <a:off x="96011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Functional (36)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960119" y="23774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1F2937"/>
                </a:solidFill>
                <a:latin typeface="Calibri"/>
              </a:rPr>
              <a:t>What the simulator does</a:t>
            </a:r>
          </a:p>
        </p:txBody>
      </p:sp>
      <p:sp>
        <p:nvSpPr>
          <p:cNvPr id="7" name="TextBox 4"/>
          <p:cNvSpPr txBox="1"/>
          <p:nvPr/>
        </p:nvSpPr>
        <p:spPr>
          <a:xfrm>
            <a:off x="960119" y="2880360"/>
            <a:ext cx="466344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Floors and cars, with their settings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Requests: source, destination, time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Assigning each request to a car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Movement, boarding and alighting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Traffic modes: NORMAL and rush modes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Input checks and output files</a:t>
            </a:r>
          </a:p>
        </p:txBody>
      </p:sp>
      <p:sp>
        <p:nvSpPr>
          <p:cNvPr id="8" name="Rounded Rectangle 2"/>
          <p:cNvSpPr/>
          <p:nvPr/>
        </p:nvSpPr>
        <p:spPr>
          <a:xfrm>
            <a:off x="6217920" y="1645920"/>
            <a:ext cx="5303520" cy="4206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3"/>
          <p:cNvSpPr txBox="1"/>
          <p:nvPr/>
        </p:nvSpPr>
        <p:spPr>
          <a:xfrm>
            <a:off x="653795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Non-functional (34)</a:t>
            </a:r>
          </a:p>
        </p:txBody>
      </p:sp>
      <p:sp>
        <p:nvSpPr>
          <p:cNvPr id="10" name="TextBox 4"/>
          <p:cNvSpPr txBox="1"/>
          <p:nvPr/>
        </p:nvSpPr>
        <p:spPr>
          <a:xfrm>
            <a:off x="6537959" y="23774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1F2937"/>
                </a:solidFill>
                <a:latin typeface="Calibri"/>
              </a:rPr>
              <a:t>How well it must do it</a:t>
            </a:r>
          </a:p>
        </p:txBody>
      </p:sp>
      <p:sp>
        <p:nvSpPr>
          <p:cNvPr id="11" name="TextBox 4"/>
          <p:cNvSpPr txBox="1"/>
          <p:nvPr/>
        </p:nvSpPr>
        <p:spPr>
          <a:xfrm>
            <a:off x="6537959" y="2880360"/>
            <a:ext cx="466344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Correctness and safety: capacity, direction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Determinism: same input, same output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Configurable settings, run with no arguments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Strategy design and bounded decision time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Clear error messages, no stack traces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Testability: each rule can be tested</a:t>
            </a:r>
          </a:p>
        </p:txBody>
      </p:sp>
      <p:sp>
        <p:nvSpPr>
          <p:cNvPr id="12" name="TextBox 4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Functional requirements say what the simulator must do. Non-functional requirements set the standards it must meet.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Traffic modes: NORMAL and four rush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5B6478"/>
                </a:solidFill>
                <a:latin typeface="Calibri"/>
              </a:rPr>
              <a:t>One mode is set for each run in elevator.properties (mode=). It decides where an empty car waits.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39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Who is travelling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Where an empty car waits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 rush. Everyone is served as they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The car stays where it last stopped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MORNING_RUSH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arriving and going up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Floor 1 (the lobby)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LUNCH_BACK_RUSH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returning and going 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Floor 1 (the lobby)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LUNCH_OUT_RUSH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leaving and going down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 parking floor set for each car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4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EVENING_RUSH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leaving and going down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 parking floor set for each car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F2937"/>
                </a:solidFill>
                <a:latin typeface="Calibri"/>
              </a:rPr>
              <a:t>The rush modes change only where empty cars wait. The strategies, the eligibility rules and the car movement are the same in every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Technical design: six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Each layer depends only on the layers below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84708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settings, checks, building the cars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1460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2432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2432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Car, Trip, PassengerRequest, Direction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91839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340156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dispatch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40156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strategies and the eligibility tiers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69079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178807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simulator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178807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tick loop, request queue, movement and boarding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84632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95604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95604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request reader and output writer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573328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73328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waits, total times, summary statistics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Technical design: one tick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The same order in the real run and in every forward-run copy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2377440"/>
            <a:ext cx="2377440" cy="146304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Record car floors</a:t>
            </a:r>
          </a:p>
        </p:txBody>
      </p:sp>
      <p:sp>
        <p:nvSpPr>
          <p:cNvPr id="5" name="Chevron 4"/>
          <p:cNvSpPr/>
          <p:nvPr/>
        </p:nvSpPr>
        <p:spPr>
          <a:xfrm>
            <a:off x="2834640" y="2377440"/>
            <a:ext cx="2377440" cy="1463040"/>
          </a:xfrm>
          <a:prstGeom prst="chevron">
            <a:avLst/>
          </a:prstGeom>
          <a:solidFill>
            <a:srgbClr val="3A4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Release requests made now</a:t>
            </a:r>
          </a:p>
        </p:txBody>
      </p:sp>
      <p:sp>
        <p:nvSpPr>
          <p:cNvPr id="6" name="Chevron 5"/>
          <p:cNvSpPr/>
          <p:nvPr/>
        </p:nvSpPr>
        <p:spPr>
          <a:xfrm>
            <a:off x="5120640" y="2377440"/>
            <a:ext cx="2377440" cy="146304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Assign each to a car</a:t>
            </a:r>
          </a:p>
        </p:txBody>
      </p:sp>
      <p:sp>
        <p:nvSpPr>
          <p:cNvPr id="7" name="Chevron 6"/>
          <p:cNvSpPr/>
          <p:nvPr/>
        </p:nvSpPr>
        <p:spPr>
          <a:xfrm>
            <a:off x="7406640" y="2377440"/>
            <a:ext cx="2377440" cy="1463040"/>
          </a:xfrm>
          <a:prstGeom prst="chevron">
            <a:avLst/>
          </a:prstGeom>
          <a:solidFill>
            <a:srgbClr val="3A4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Alight, then board</a:t>
            </a:r>
          </a:p>
        </p:txBody>
      </p:sp>
      <p:sp>
        <p:nvSpPr>
          <p:cNvPr id="8" name="Chevron 7"/>
          <p:cNvSpPr/>
          <p:nvPr/>
        </p:nvSpPr>
        <p:spPr>
          <a:xfrm>
            <a:off x="9692640" y="2377440"/>
            <a:ext cx="2377440" cy="146304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Move one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Each car, in car-number order, does its alight and board, then moves one floor.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Passengers board only in the car's direction, and only when there is a free seat.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Predicting a pickup time: the forward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Time-based strategies simulate each car instead of guessing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120640" cy="393192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1. Copy the 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Riders and pending passengers are copied with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290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2. Add the new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Run the copy forward, one tick at a time, with the same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3. Read 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06040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tick at which the new passenger boards gives the pickup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4290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4. Throw the copy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77639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real car and its trips are never changed.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Round Robin: take turns, and group same-direction riders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1"/>
            <a:ext cx="5486400" cy="2631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Cars are tried in rotation. The pointer moves past the car that was picked.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Requests made at the same time, going the same way, share a car if it has room for all of them and can reach both floors.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request that cannot be grouped goes alone, to the next car in rotation.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61760" y="1828800"/>
            <a:ext cx="5120640" cy="1341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6705600" y="2047922"/>
            <a:ext cx="4693920" cy="9028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33" b="1">
                <a:solidFill>
                  <a:srgbClr val="1E2761"/>
                </a:solidFill>
                <a:latin typeface="Calibri"/>
              </a:rPr>
              <a:t>Pass 1: ready now</a:t>
            </a:r>
          </a:p>
          <a:p>
            <a:pPr algn="l"/>
            <a:r>
              <a:rPr sz="1867">
                <a:solidFill>
                  <a:srgbClr val="1F2937"/>
                </a:solidFill>
                <a:latin typeface="Calibri"/>
              </a:rPr>
              <a:t>Has room, and is idle or going the passenger's way with the passenger ahead.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61760" y="3352800"/>
            <a:ext cx="5120640" cy="1341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6705600" y="3571922"/>
            <a:ext cx="4693920" cy="9028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33" b="1">
                <a:solidFill>
                  <a:srgbClr val="1E2761"/>
                </a:solidFill>
                <a:latin typeface="Calibri"/>
              </a:rPr>
              <a:t>Pass 2: has room</a:t>
            </a:r>
          </a:p>
          <a:p>
            <a:pPr algn="l"/>
            <a:r>
              <a:rPr sz="1867">
                <a:solidFill>
                  <a:srgbClr val="1F2937"/>
                </a:solidFill>
                <a:latin typeface="Calibri"/>
              </a:rPr>
              <a:t>Has room, whatever its direction, since it will turn around.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61760" y="4876800"/>
            <a:ext cx="5120640" cy="1341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6705600" y="5239584"/>
            <a:ext cx="46939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33" b="1">
                <a:solidFill>
                  <a:srgbClr val="1E2761"/>
                </a:solidFill>
                <a:latin typeface="Calibri"/>
              </a:rPr>
              <a:t>Pass 3: any car</a:t>
            </a:r>
          </a:p>
          <a:p>
            <a:pPr algn="l"/>
            <a:r>
              <a:rPr sz="1867">
                <a:solidFill>
                  <a:srgbClr val="1F2937"/>
                </a:solidFill>
                <a:latin typeface="Calibri"/>
              </a:rPr>
              <a:t>Any car that serves both floors.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Nearest Car Simple: distance in floors (comparison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0"/>
            <a:ext cx="6583680" cy="3620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Distance is the number of floors between the car and the passenger.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car that can take the passenger now always beats a car that cannot.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If no car can take them now, the nearest car that serves both floors still gets them.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tie goes to the lower car number.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It does not follow FR-ASN-4b, which counts time steps. It is kept to compare against Nearest Car.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02880" y="1828800"/>
            <a:ext cx="3779520" cy="24384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8046720" y="2473452"/>
            <a:ext cx="3291840" cy="11490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Distance</a:t>
            </a:r>
          </a:p>
          <a:p>
            <a:pPr algn="ctr"/>
            <a:r>
              <a:rPr sz="2667" b="1">
                <a:solidFill>
                  <a:srgbClr val="1E2761"/>
                </a:solidFill>
                <a:latin typeface="Calibri"/>
              </a:rPr>
              <a:t>|car floor − passenger floor|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Nearest Car: the nearest car in floors (FR-ASN-4b-E)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1"/>
            <a:ext cx="6339840" cy="3125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Cars that can take the passenger now are preferred.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Distance is the floors to the passenger. A car heading away also pays the floors to its turn point and back.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The car with the smallest distance gets the request. Ties go to the lower car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59040" y="1828800"/>
            <a:ext cx="4023360" cy="31699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7924800" y="2695551"/>
            <a:ext cx="3352800" cy="14364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Distance</a:t>
            </a:r>
          </a:p>
          <a:p>
            <a:pPr algn="ctr"/>
            <a:r>
              <a:rPr sz="2667" b="1">
                <a:solidFill>
                  <a:srgbClr val="1E2761"/>
                </a:solidFill>
                <a:latin typeface="Calibri"/>
              </a:rPr>
              <a:t>floors to the passenger, plus the detour</a:t>
            </a:r>
          </a:p>
          <a:p>
            <a:pPr algn="ctr"/>
            <a:r>
              <a:rPr sz="1867">
                <a:solidFill>
                  <a:srgbClr val="1F2937"/>
                </a:solidFill>
                <a:latin typeface="Calibri"/>
              </a:rPr>
              <a:t>an estimate: stops, seats and time at each floor are not counted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Nearest Car Forward Run: the fastest pickup (FR-ASN-4b)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Each eligible car is tested with a forward run: a copy of the car, with the new request added, runs one tick at a time.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copy includes the car's riders and pending passengers, so stops, seats and turns are counted.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car with the smallest wait gets the request. Ties go to the lower car number.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82880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0" y="2057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B6478"/>
                </a:solidFill>
                <a:latin typeface="Calibri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265176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pickup time − request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4206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measured in ticks, the exact rule of FR-ASN-4b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Balanced: pickup time against load (FR-ASN-4d)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Each eligible car gets a score from its wait and its load.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car with the lowest score gets the request. Ties go to the lower car number.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Both weights default to 1.0 and are set in the code. With the load weight at 0, it matches Nearest Car Forward Run.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82880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0" y="2057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B6478"/>
                </a:solidFill>
                <a:latin typeface="Calibri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265176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wait_time_weight × wait + car_load_weight × passengers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4206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passengers = riders plus pending passengers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Cost Based: keep every passenger's wait fair (FR-ASN-4c)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0"/>
            <a:ext cx="6339840" cy="2797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Each eligible car is tested with a forward run that predicts its trips, including the new passenger.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car's largest wait is the longest wait of anyone on it, the new passenger included.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The car with the smallest largest wait gets the request, so no one is left far behind.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tie goes to the lower car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59040" y="1828800"/>
            <a:ext cx="4023360" cy="18288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7802880" y="2209753"/>
            <a:ext cx="3596640" cy="10668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Largest wait of a car</a:t>
            </a:r>
          </a:p>
          <a:p>
            <a:pPr algn="ctr"/>
            <a:r>
              <a:rPr sz="2400" b="1">
                <a:solidFill>
                  <a:srgbClr val="1E2761"/>
                </a:solidFill>
                <a:latin typeface="Calibri"/>
              </a:rPr>
              <a:t>max wait over its predicted trips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59040" y="3901440"/>
            <a:ext cx="4023360" cy="18288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7802880" y="4467058"/>
            <a:ext cx="3596640" cy="6975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Chosen car</a:t>
            </a:r>
          </a:p>
          <a:p>
            <a:pPr algn="ctr"/>
            <a:r>
              <a:rPr sz="2400" b="1">
                <a:solidFill>
                  <a:srgbClr val="1E2761"/>
                </a:solidFill>
                <a:latin typeface="Calibri"/>
              </a:rPr>
              <a:t>smallest largest wait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Six strategies, two ways of measuring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Distance-based strategies use floors. Time-based strategies use the forward run.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741033"/>
              </p:ext>
            </p:extLst>
          </p:nvPr>
        </p:nvGraphicFramePr>
        <p:xfrm>
          <a:off x="64008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Measures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Forward 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Ready cars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Rotation, direction, room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Ready cars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NEAREST_CAR</a:t>
                      </a:r>
                      <a:r>
                        <a:rPr lang="en-US" dirty="0"/>
                        <a:t>_SIMPLE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Floors only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Ready cars first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NEAREST_CAR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Floors, plus the turn detour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Ready cars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Ticks to pickup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BALANCED_STRATEGY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Wait + load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COST_BASED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Longest predicted wait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How the time-based strategies score a car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2103120"/>
            <a:ext cx="548640" cy="54864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2761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Forward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Wait in ticks until the car picks the passenger 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663440" y="2103120"/>
            <a:ext cx="548640" cy="54864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2761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92608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Cost 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56616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longest wait of anyone on the car after the new passenger is added. The smallest wins.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412480" y="2103120"/>
            <a:ext cx="548640" cy="54864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2761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Balanced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wait_time_weight x wait + car_load_weight x passengers. Both weights are 1.0.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The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One small input, the same for every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passengers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floors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cars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capacity per 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Cars start on floors 1, 5 and 10.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Requests arrive between tick 0 and tick 12, with random sources and destinations.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Results on the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Green marks the best strategy for each measure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795760" cy="323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5.33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5.0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41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0.774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0.889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0.889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0.727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Fairness against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Lower and further left is better on both measures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7754112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95360" y="1737360"/>
            <a:ext cx="3200400" cy="438912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0" y="1920240"/>
            <a:ext cx="27432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Nearest Car Forward Run has the lowest average (5.33 ticks).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Cost Based has the shortest longest total (10 ticks).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No strategy is best on both, so the choice is a trade-off.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What the sample shows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3017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Nearest Car Forward Run serves the typical passenger fastest: 5.33 ticks on average.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63440" y="21031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Fairness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834640"/>
            <a:ext cx="3017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Cost Based keeps the slowest passenger's total down to 10 ticks.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0" y="21031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Even spread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834640"/>
            <a:ext cx="3017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Round Robin spreads passengers most evenly across cars (passenger balance 0.98).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Scenarios: which strategy wins 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Calibri"/>
              </a:rPr>
              <a:t>Averages over generated traffic (rush hour: 100 files per direction; others: 20 files)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208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average wait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longest wait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Fewest floors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Most balanced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Rush hour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(6.9)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Uniform 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(4.1)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Sparse 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Balanced (2.7), tie with Nearest Car Forward Run (2.7)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Large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(25.3)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(66)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Longest wait: Cost Based is lowest in every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Calibri"/>
              </a:rPr>
              <a:t>Mean of the longest wait in each run, in ticks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737360"/>
          <a:ext cx="109728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Conclusion: best and worst, by term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645920"/>
          <a:ext cx="10972800" cy="29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Worst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Average 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rush hour; Nearest Car Forward Run in uniform traffic and the large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 in most scenarios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Longest 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and Nearest Car Simple in rush hour; Round Robin in the large building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Energy (floors)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rush hour and the large building; Forward Run in uniform and sparse 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Passenger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Forward Run in sparse traffic; Cost Based in the large building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Simplicity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Simple (the 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Its waits and energy are the poorest of the non-trivial options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What we would improve next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7451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Test the trade-off on more request files, and on cars of different capacities.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83464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8803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Use peak-mode parking across a group of floors, not one floor.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84048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8862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Make the Balanced weights settings, and add an energy-saving strategy.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1974</Words>
  <Application>Microsoft Office PowerPoint</Application>
  <PresentationFormat>Widescreen</PresentationFormat>
  <Paragraphs>320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Yashraj Arora</cp:lastModifiedBy>
  <cp:revision>5</cp:revision>
  <dcterms:created xsi:type="dcterms:W3CDTF">2013-01-27T09:14:16Z</dcterms:created>
  <dcterms:modified xsi:type="dcterms:W3CDTF">2026-10-14T05:05:55Z</dcterms:modified>
  <cp:category/>
</cp:coreProperties>
</file>